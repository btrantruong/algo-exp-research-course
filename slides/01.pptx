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webextensions/webextension2.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aveSubsetFonts="1" autoCompressPictures="0">
  <p:sldMasterIdLst>
    <p:sldMasterId id="2147483696" r:id="rId1"/>
  </p:sldMasterIdLst>
  <p:notesMasterIdLst>
    <p:notesMasterId r:id="rId13"/>
  </p:notesMasterIdLst>
  <p:sldIdLst>
    <p:sldId id="263" r:id="rId2"/>
    <p:sldId id="278" r:id="rId3"/>
    <p:sldId id="276" r:id="rId4"/>
    <p:sldId id="272" r:id="rId5"/>
    <p:sldId id="277" r:id="rId6"/>
    <p:sldId id="273" r:id="rId7"/>
    <p:sldId id="279" r:id="rId8"/>
    <p:sldId id="274" r:id="rId9"/>
    <p:sldId id="275" r:id="rId10"/>
    <p:sldId id="280" r:id="rId11"/>
    <p:sldId id="281"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9749"/>
    <p:restoredTop sz="94658"/>
  </p:normalViewPr>
  <p:slideViewPr>
    <p:cSldViewPr snapToGrid="0" snapToObjects="1">
      <p:cViewPr varScale="1">
        <p:scale>
          <a:sx n="120" d="100"/>
          <a:sy n="120" d="100"/>
        </p:scale>
        <p:origin x="616" y="184"/>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8F0C140-C52D-4146-B10E-6B13A387C2B6}" type="datetimeFigureOut">
              <a:rPr lang="en-US" smtClean="0"/>
              <a:t>10/26/26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A3BD532-DA5D-1446-B454-7AC46E978551}" type="slidenum">
              <a:rPr lang="en-US" smtClean="0"/>
              <a:t>‹#›</a:t>
            </a:fld>
            <a:endParaRPr lang="en-US"/>
          </a:p>
        </p:txBody>
      </p:sp>
    </p:spTree>
    <p:extLst>
      <p:ext uri="{BB962C8B-B14F-4D97-AF65-F5344CB8AC3E}">
        <p14:creationId xmlns:p14="http://schemas.microsoft.com/office/powerpoint/2010/main" val="389092205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Identify trade-offs and potential unintended consequences of algorithmic decisions.</a:t>
            </a:r>
          </a:p>
        </p:txBody>
      </p:sp>
      <p:sp>
        <p:nvSpPr>
          <p:cNvPr id="4" name="Slide Number Placeholder 3"/>
          <p:cNvSpPr>
            <a:spLocks noGrp="1"/>
          </p:cNvSpPr>
          <p:nvPr>
            <p:ph type="sldNum" sz="quarter" idx="5"/>
          </p:nvPr>
        </p:nvSpPr>
        <p:spPr/>
        <p:txBody>
          <a:bodyPr/>
          <a:lstStyle/>
          <a:p>
            <a:fld id="{DA3BD532-DA5D-1446-B454-7AC46E978551}" type="slidenum">
              <a:rPr lang="en-US" smtClean="0"/>
              <a:t>2</a:t>
            </a:fld>
            <a:endParaRPr lang="en-US"/>
          </a:p>
        </p:txBody>
      </p:sp>
    </p:spTree>
    <p:extLst>
      <p:ext uri="{BB962C8B-B14F-4D97-AF65-F5344CB8AC3E}">
        <p14:creationId xmlns:p14="http://schemas.microsoft.com/office/powerpoint/2010/main" val="3013761149"/>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cSld name="Title Slide">
    <p:bg>
      <p:bgPr>
        <a:solidFill>
          <a:srgbClr val="00008C"/>
        </a:solidFill>
        <a:effectLst/>
      </p:bgPr>
    </p:bg>
    <p:spTree>
      <p:nvGrpSpPr>
        <p:cNvPr id="1" name=""/>
        <p:cNvGrpSpPr/>
        <p:nvPr/>
      </p:nvGrpSpPr>
      <p:grpSpPr>
        <a:xfrm>
          <a:off x="0" y="0"/>
          <a:ext cx="0" cy="0"/>
          <a:chOff x="0" y="0"/>
          <a:chExt cx="0" cy="0"/>
        </a:xfrm>
      </p:grpSpPr>
      <p:sp>
        <p:nvSpPr>
          <p:cNvPr id="7" name="Accent Rule"/>
          <p:cNvSpPr/>
          <p:nvPr userDrawn="1"/>
        </p:nvSpPr>
        <p:spPr>
          <a:xfrm>
            <a:off x="1524000" y="2084831"/>
            <a:ext cx="877824" cy="41148"/>
          </a:xfrm>
          <a:prstGeom prst="rect">
            <a:avLst/>
          </a:prstGeom>
          <a:solidFill>
            <a:srgbClr val="FFBE78"/>
          </a:solidFill>
          <a:ln>
            <a:noFill/>
          </a:ln>
        </p:spPr>
        <p:txBody>
          <a:bodyPr rtlCol="0" anchor="ctr"/>
          <a:lstStyle/>
          <a:p>
            <a:endParaRPr lang="en-US" sz="1800"/>
          </a:p>
        </p:txBody>
      </p:sp>
      <p:sp>
        <p:nvSpPr>
          <p:cNvPr id="2" name="Title 1"/>
          <p:cNvSpPr>
            <a:spLocks noGrp="1"/>
          </p:cNvSpPr>
          <p:nvPr>
            <p:ph type="ctrTitle"/>
          </p:nvPr>
        </p:nvSpPr>
        <p:spPr>
          <a:xfrm>
            <a:off x="1524000" y="2395728"/>
            <a:ext cx="9144000" cy="1651000"/>
          </a:xfrm>
        </p:spPr>
        <p:txBody>
          <a:bodyPr anchor="t">
            <a:normAutofit/>
          </a:bodyPr>
          <a:lstStyle>
            <a:lvl1pPr algn="l">
              <a:lnSpc>
                <a:spcPct val="112000"/>
              </a:lnSpc>
              <a:defRPr sz="3800" b="0">
                <a:solidFill>
                  <a:schemeClr val="bg1"/>
                </a:solidFill>
              </a:defRPr>
            </a:lvl1pPr>
          </a:lstStyle>
          <a:p>
            <a:r>
              <a:rPr lang="en-US"/>
              <a:t>Click to edit Master title style</a:t>
            </a:r>
          </a:p>
        </p:txBody>
      </p:sp>
      <p:sp>
        <p:nvSpPr>
          <p:cNvPr id="3" name="Subtitle 2"/>
          <p:cNvSpPr>
            <a:spLocks noGrp="1"/>
          </p:cNvSpPr>
          <p:nvPr>
            <p:ph type="subTitle" idx="1"/>
          </p:nvPr>
        </p:nvSpPr>
        <p:spPr>
          <a:xfrm>
            <a:off x="1524000" y="4114800"/>
            <a:ext cx="9144000" cy="330200"/>
          </a:xfrm>
        </p:spPr>
        <p:txBody>
          <a:bodyPr anchor="t">
            <a:normAutofit/>
          </a:bodyPr>
          <a:lstStyle>
            <a:lvl1pPr marL="0" indent="0" algn="l">
              <a:lnSpc>
                <a:spcPct val="120000"/>
              </a:lnSpc>
              <a:buNone/>
              <a:defRPr sz="1600">
                <a:solidFill>
                  <a:srgbClr val="C0C0DE"/>
                </a:solidFill>
              </a:defRPr>
            </a:lvl1pPr>
          </a:lstStyle>
          <a:p>
            <a:r>
              <a:rPr lang="en-US"/>
              <a:t>Click to edit Master subtitle style</a:t>
            </a:r>
          </a:p>
        </p:txBody>
      </p:sp>
      <p:sp>
        <p:nvSpPr>
          <p:cNvPr id="4" name="Text Placeholder 3"/>
          <p:cNvSpPr>
            <a:spLocks noGrp="1"/>
          </p:cNvSpPr>
          <p:nvPr>
            <p:ph type="body" sz="quarter" idx="13"/>
          </p:nvPr>
        </p:nvSpPr>
        <p:spPr>
          <a:xfrm>
            <a:off x="1524000" y="4597400"/>
            <a:ext cx="6949440" cy="1092200"/>
          </a:xfrm>
        </p:spPr>
        <p:txBody>
          <a:bodyPr anchor="t">
            <a:normAutofit/>
          </a:bodyPr>
          <a:lstStyle>
            <a:lvl1pPr marL="0" indent="0" algn="l">
              <a:lnSpc>
                <a:spcPct val="150000"/>
              </a:lnSpc>
              <a:buNone/>
              <a:defRPr sz="1600">
                <a:solidFill>
                  <a:srgbClr val="CFCFE6"/>
                </a:solidFill>
              </a:defRPr>
            </a:lvl1pPr>
          </a:lstStyle>
          <a:p>
            <a:pPr lvl="0"/>
            <a:r>
              <a:rPr lang="en-US"/>
              <a:t>Click to edit Master text styles</a:t>
            </a:r>
          </a:p>
        </p:txBody>
      </p:sp>
      <p:grpSp>
        <p:nvGrpSpPr>
          <p:cNvPr id="11" name="Logos (resize this group to scale)"/>
          <p:cNvGrpSpPr>
            <a:grpSpLocks noChangeAspect="1"/>
          </p:cNvGrpSpPr>
          <p:nvPr userDrawn="1"/>
        </p:nvGrpSpPr>
        <p:grpSpPr>
          <a:xfrm>
            <a:off x="7573206" y="5782728"/>
            <a:ext cx="3094794" cy="691857"/>
            <a:chOff x="8262244" y="5965296"/>
            <a:chExt cx="2532757" cy="566211"/>
          </a:xfrm>
        </p:grpSpPr>
        <p:pic>
          <p:nvPicPr>
            <p:cNvPr id="8" name="Logo TU Dresden" descr="TU Dresden logo (white)"/>
            <p:cNvPicPr>
              <a:picLocks noChangeAspect="1"/>
            </p:cNvPicPr>
            <p:nvPr userDrawn="1"/>
          </p:nvPicPr>
          <p:blipFill>
            <a:blip r:embed="rId2"/>
            <a:stretch>
              <a:fillRect/>
            </a:stretch>
          </p:blipFill>
          <p:spPr>
            <a:xfrm>
              <a:off x="8262244" y="5976183"/>
              <a:ext cx="1209853" cy="544434"/>
            </a:xfrm>
            <a:prstGeom prst="rect">
              <a:avLst/>
            </a:prstGeom>
          </p:spPr>
        </p:pic>
        <p:sp>
          <p:nvSpPr>
            <p:cNvPr id="9" name="Logo Divider"/>
            <p:cNvSpPr/>
            <p:nvPr userDrawn="1"/>
          </p:nvSpPr>
          <p:spPr>
            <a:xfrm>
              <a:off x="9789597" y="6041517"/>
              <a:ext cx="10059" cy="413769"/>
            </a:xfrm>
            <a:prstGeom prst="rect">
              <a:avLst/>
            </a:prstGeom>
            <a:solidFill>
              <a:srgbClr val="9A9AC8"/>
            </a:solidFill>
            <a:ln>
              <a:noFill/>
            </a:ln>
          </p:spPr>
          <p:txBody>
            <a:bodyPr rtlCol="0" anchor="ctr"/>
            <a:lstStyle/>
            <a:p>
              <a:endParaRPr lang="en-US" sz="1800"/>
            </a:p>
          </p:txBody>
        </p:sp>
        <p:pic>
          <p:nvPicPr>
            <p:cNvPr id="10" name="Logo SynoSys" descr="SynoSys logo (white)"/>
            <p:cNvPicPr>
              <a:picLocks noChangeAspect="1"/>
            </p:cNvPicPr>
            <p:nvPr userDrawn="1"/>
          </p:nvPicPr>
          <p:blipFill>
            <a:blip r:embed="rId3"/>
            <a:stretch>
              <a:fillRect/>
            </a:stretch>
          </p:blipFill>
          <p:spPr>
            <a:xfrm>
              <a:off x="10117156" y="5965296"/>
              <a:ext cx="677845" cy="566211"/>
            </a:xfrm>
            <a:prstGeom prst="rect">
              <a:avLst/>
            </a:prstGeom>
          </p:spPr>
        </p:pic>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6" name="Subtitle Placeholder"/>
          <p:cNvSpPr>
            <a:spLocks noGrp="1"/>
          </p:cNvSpPr>
          <p:nvPr>
            <p:ph type="body" sz="quarter" idx="14" hasCustomPrompt="1"/>
          </p:nvPr>
        </p:nvSpPr>
        <p:spPr>
          <a:xfrm>
            <a:off x="1524000" y="6124575"/>
            <a:ext cx="9144000" cy="304800"/>
          </a:xfrm>
        </p:spPr>
        <p:txBody>
          <a:bodyPr anchor="t">
            <a:normAutofit/>
          </a:bodyPr>
          <a:lstStyle>
            <a:lvl1pPr marL="0" indent="0" algn="l">
              <a:lnSpc>
                <a:spcPct val="110000"/>
              </a:lnSpc>
              <a:spcBef>
                <a:spcPts val="0"/>
              </a:spcBef>
              <a:buNone/>
              <a:defRPr sz="1400">
                <a:solidFill>
                  <a:schemeClr val="accent3"/>
                </a:solidFill>
              </a:defRPr>
            </a:lvl1pPr>
          </a:lstStyle>
          <a:p>
            <a:pPr lvl="0"/>
            <a:r>
              <a:rPr lang="en-US"/>
              <a:t>Click to add subtitle</a:t>
            </a:r>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
        <p:nvSpPr>
          <p:cNvPr id="3" name="Text Placeholder 2">
            <a:extLst>
              <a:ext uri="{FF2B5EF4-FFF2-40B4-BE49-F238E27FC236}">
                <a16:creationId xmlns:a16="http://schemas.microsoft.com/office/drawing/2014/main" id="{60B6CC81-2330-914B-B24A-46460D571969}"/>
              </a:ext>
            </a:extLst>
          </p:cNvPr>
          <p:cNvSpPr>
            <a:spLocks noGrp="1"/>
          </p:cNvSpPr>
          <p:nvPr>
            <p:ph idx="1"/>
          </p:nvPr>
        </p:nvSpPr>
        <p:spPr>
          <a:xfrm>
            <a:off x="1524000" y="1298449"/>
            <a:ext cx="9144000" cy="4416552"/>
          </a:xfrm>
          <a:prstGeom prst="rect">
            <a:avLst/>
          </a:prstGeom>
        </p:spPr>
        <p:txBody>
          <a:bodyPr vert="horz" lIns="0" tIns="0" rIns="0" bIns="0" rtlCol="0">
            <a:normAutofit/>
          </a:bodyPr>
          <a:lstStyle/>
          <a:p>
            <a:pPr lvl="0"/>
            <a:endParaRPr lang="en-US" dirty="0"/>
          </a:p>
        </p:txBody>
      </p:sp>
    </p:spTree>
    <p:extLst>
      <p:ext uri="{BB962C8B-B14F-4D97-AF65-F5344CB8AC3E}">
        <p14:creationId xmlns:p14="http://schemas.microsoft.com/office/powerpoint/2010/main" val="7270277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vertTx">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7" name="Subtitle Placeholder"/>
          <p:cNvSpPr>
            <a:spLocks noGrp="1"/>
          </p:cNvSpPr>
          <p:nvPr>
            <p:ph type="body" sz="quarter" idx="14" hasCustomPrompt="1"/>
          </p:nvPr>
        </p:nvSpPr>
        <p:spPr>
          <a:xfrm>
            <a:off x="1524000" y="6124575"/>
            <a:ext cx="9144000" cy="304800"/>
          </a:xfrm>
        </p:spPr>
        <p:txBody>
          <a:bodyPr anchor="t">
            <a:normAutofit/>
          </a:bodyPr>
          <a:lstStyle>
            <a:lvl1pPr marL="0" indent="0" algn="l">
              <a:lnSpc>
                <a:spcPct val="110000"/>
              </a:lnSpc>
              <a:spcBef>
                <a:spcPts val="0"/>
              </a:spcBef>
              <a:buNone/>
              <a:defRPr sz="1400">
                <a:solidFill>
                  <a:schemeClr val="accent3"/>
                </a:solidFill>
              </a:defRPr>
            </a:lvl1pPr>
          </a:lstStyle>
          <a:p>
            <a:pPr lvl="0"/>
            <a:r>
              <a:rPr lang="en-US"/>
              <a:t>Click to add subtitle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vertTitleAndTx">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82000" y="274320"/>
            <a:ext cx="2286000" cy="5440680"/>
          </a:xfrm>
        </p:spPr>
        <p:txBody>
          <a:bodyPr vert="eaVert"/>
          <a:lstStyle/>
          <a:p>
            <a:r>
              <a:rPr lang="en-US"/>
              <a:t>Click to edit Master title style</a:t>
            </a:r>
          </a:p>
        </p:txBody>
      </p:sp>
      <p:sp>
        <p:nvSpPr>
          <p:cNvPr id="7" name="Subtitle Placeholder"/>
          <p:cNvSpPr>
            <a:spLocks noGrp="1"/>
          </p:cNvSpPr>
          <p:nvPr>
            <p:ph type="body" sz="quarter" idx="14" hasCustomPrompt="1"/>
          </p:nvPr>
        </p:nvSpPr>
        <p:spPr>
          <a:xfrm>
            <a:off x="1524000" y="6124575"/>
            <a:ext cx="9144000" cy="304800"/>
          </a:xfrm>
        </p:spPr>
        <p:txBody>
          <a:bodyPr anchor="t">
            <a:normAutofit/>
          </a:bodyPr>
          <a:lstStyle>
            <a:lvl1pPr marL="0" indent="0" algn="l">
              <a:lnSpc>
                <a:spcPct val="110000"/>
              </a:lnSpc>
              <a:spcBef>
                <a:spcPts val="0"/>
              </a:spcBef>
              <a:buNone/>
              <a:defRPr sz="1400">
                <a:solidFill>
                  <a:schemeClr val="accent3"/>
                </a:solidFill>
              </a:defRPr>
            </a:lvl1pPr>
          </a:lstStyle>
          <a:p>
            <a:pPr lvl="0"/>
            <a:r>
              <a:rPr lang="en-US"/>
              <a:t>Click to add subtitle</a:t>
            </a:r>
          </a:p>
        </p:txBody>
      </p:sp>
      <p:sp>
        <p:nvSpPr>
          <p:cNvPr id="3" name="Vertical Text Placeholder 2"/>
          <p:cNvSpPr>
            <a:spLocks noGrp="1"/>
          </p:cNvSpPr>
          <p:nvPr>
            <p:ph type="body" orient="vert" idx="1"/>
          </p:nvPr>
        </p:nvSpPr>
        <p:spPr>
          <a:xfrm>
            <a:off x="1524000" y="274320"/>
            <a:ext cx="6654800" cy="544068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2.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Accent Bar"/>
          <p:cNvSpPr/>
          <p:nvPr userDrawn="1"/>
        </p:nvSpPr>
        <p:spPr>
          <a:xfrm>
            <a:off x="0" y="0"/>
            <a:ext cx="12192000" cy="32004"/>
          </a:xfrm>
          <a:prstGeom prst="rect">
            <a:avLst/>
          </a:prstGeom>
          <a:solidFill>
            <a:srgbClr val="FFBE78"/>
          </a:solidFill>
          <a:ln>
            <a:noFill/>
          </a:ln>
        </p:spPr>
        <p:txBody>
          <a:bodyPr rtlCol="0" anchor="ctr"/>
          <a:lstStyle/>
          <a:p>
            <a:endParaRPr lang="en-US" sz="1800"/>
          </a:p>
        </p:txBody>
      </p:sp>
      <p:sp>
        <p:nvSpPr>
          <p:cNvPr id="2" name="Title Placeholder 1"/>
          <p:cNvSpPr>
            <a:spLocks noGrp="1"/>
          </p:cNvSpPr>
          <p:nvPr>
            <p:ph type="title"/>
          </p:nvPr>
        </p:nvSpPr>
        <p:spPr>
          <a:xfrm>
            <a:off x="1524000" y="658368"/>
            <a:ext cx="9144000" cy="640080"/>
          </a:xfrm>
          <a:prstGeom prst="rect">
            <a:avLst/>
          </a:prstGeom>
        </p:spPr>
        <p:txBody>
          <a:bodyPr vert="horz" lIns="0" tIns="0" rIns="0" bIns="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524000" y="1298449"/>
            <a:ext cx="9144000" cy="4416552"/>
          </a:xfrm>
          <a:prstGeom prst="rect">
            <a:avLst/>
          </a:prstGeom>
        </p:spPr>
        <p:txBody>
          <a:bodyPr vert="horz" lIns="0" tIns="0" rIns="0" bIns="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p:cNvSpPr>
            <a:spLocks noGrp="1"/>
          </p:cNvSpPr>
          <p:nvPr>
            <p:ph type="ftr" sz="quarter" idx="3"/>
          </p:nvPr>
        </p:nvSpPr>
        <p:spPr>
          <a:xfrm>
            <a:off x="1524000" y="6124575"/>
            <a:ext cx="4826000" cy="274320"/>
          </a:xfrm>
          <a:prstGeom prst="rect">
            <a:avLst/>
          </a:prstGeom>
        </p:spPr>
        <p:txBody>
          <a:bodyPr vert="horz" lIns="0" tIns="0" rIns="0" bIns="0" rtlCol="0" anchor="ctr"/>
          <a:lstStyle>
            <a:lvl1pPr algn="l">
              <a:defRPr sz="1000">
                <a:solidFill>
                  <a:srgbClr val="6B6B72"/>
                </a:solidFill>
              </a:defRPr>
            </a:lvl1pPr>
          </a:lstStyle>
          <a:p>
            <a:endParaRPr lang="en-US"/>
          </a:p>
        </p:txBody>
      </p:sp>
      <p:sp>
        <p:nvSpPr>
          <p:cNvPr id="6" name="Slide Number Placeholder 5"/>
          <p:cNvSpPr>
            <a:spLocks noGrp="1"/>
          </p:cNvSpPr>
          <p:nvPr>
            <p:ph type="sldNum" sz="quarter" idx="4"/>
          </p:nvPr>
        </p:nvSpPr>
        <p:spPr>
          <a:xfrm>
            <a:off x="11310620" y="6124575"/>
            <a:ext cx="457200" cy="274320"/>
          </a:xfrm>
          <a:prstGeom prst="rect">
            <a:avLst/>
          </a:prstGeom>
        </p:spPr>
        <p:txBody>
          <a:bodyPr vert="horz" lIns="0" tIns="0" rIns="0" bIns="0" rtlCol="0" anchor="ctr"/>
          <a:lstStyle>
            <a:lvl1pPr algn="ctr">
              <a:defRPr sz="1400">
                <a:solidFill>
                  <a:srgbClr val="66668F"/>
                </a:solidFill>
              </a:defRPr>
            </a:lvl1pPr>
          </a:lstStyle>
          <a:p>
            <a:fld id="{C1FF6DA9-008F-8B48-92A6-B652298478BF}" type="slidenum">
              <a:rPr lang="en-US" smtClean="0"/>
              <a:pPr/>
              <a:t>‹#›</a:t>
            </a:fld>
            <a:endParaRPr lang="en-US" sz="1400" dirty="0"/>
          </a:p>
        </p:txBody>
      </p:sp>
      <p:grpSp>
        <p:nvGrpSpPr>
          <p:cNvPr id="11" name="Logos (resize this group to scale)"/>
          <p:cNvGrpSpPr>
            <a:grpSpLocks noChangeAspect="1"/>
          </p:cNvGrpSpPr>
          <p:nvPr userDrawn="1"/>
        </p:nvGrpSpPr>
        <p:grpSpPr>
          <a:xfrm>
            <a:off x="7789797" y="5863312"/>
            <a:ext cx="3008831" cy="672639"/>
            <a:chOff x="8262244" y="5965296"/>
            <a:chExt cx="2532757" cy="566211"/>
          </a:xfrm>
        </p:grpSpPr>
        <p:pic>
          <p:nvPicPr>
            <p:cNvPr id="8" name="Logo TU Dresden" descr="TU Dresden logo"/>
            <p:cNvPicPr>
              <a:picLocks noChangeAspect="1"/>
            </p:cNvPicPr>
            <p:nvPr userDrawn="1"/>
          </p:nvPicPr>
          <p:blipFill>
            <a:blip r:embed="rId6"/>
            <a:stretch>
              <a:fillRect/>
            </a:stretch>
          </p:blipFill>
          <p:spPr>
            <a:xfrm>
              <a:off x="8262244" y="5976183"/>
              <a:ext cx="1209853" cy="544434"/>
            </a:xfrm>
            <a:prstGeom prst="rect">
              <a:avLst/>
            </a:prstGeom>
          </p:spPr>
        </p:pic>
        <p:sp>
          <p:nvSpPr>
            <p:cNvPr id="9" name="Logo Divider"/>
            <p:cNvSpPr/>
            <p:nvPr userDrawn="1"/>
          </p:nvSpPr>
          <p:spPr>
            <a:xfrm>
              <a:off x="9789597" y="6041517"/>
              <a:ext cx="10059" cy="413769"/>
            </a:xfrm>
            <a:prstGeom prst="rect">
              <a:avLst/>
            </a:prstGeom>
            <a:solidFill>
              <a:srgbClr val="CCCCDD"/>
            </a:solidFill>
            <a:ln>
              <a:noFill/>
            </a:ln>
          </p:spPr>
          <p:txBody>
            <a:bodyPr rtlCol="0" anchor="ctr"/>
            <a:lstStyle/>
            <a:p>
              <a:endParaRPr lang="en-US" sz="1800"/>
            </a:p>
          </p:txBody>
        </p:sp>
        <p:pic>
          <p:nvPicPr>
            <p:cNvPr id="10" name="Logo SynoSys" descr="SynoSys logo"/>
            <p:cNvPicPr>
              <a:picLocks noChangeAspect="1"/>
            </p:cNvPicPr>
            <p:nvPr userDrawn="1"/>
          </p:nvPicPr>
          <p:blipFill>
            <a:blip r:embed="rId7"/>
            <a:stretch>
              <a:fillRect/>
            </a:stretch>
          </p:blipFill>
          <p:spPr>
            <a:xfrm>
              <a:off x="10117156" y="5965296"/>
              <a:ext cx="677845" cy="566211"/>
            </a:xfrm>
            <a:prstGeom prst="rect">
              <a:avLst/>
            </a:prstGeom>
          </p:spPr>
        </p:pic>
      </p:gr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85" r:id="rId1"/>
    <p:sldLayoutId id="2147483690" r:id="rId2"/>
    <p:sldLayoutId id="2147483693" r:id="rId3"/>
    <p:sldLayoutId id="2147483694" r:id="rId4"/>
  </p:sldLayoutIdLst>
  <p:hf hdr="0" ftr="0" dt="0"/>
  <p:txStyles>
    <p:titleStyle>
      <a:lvl1pPr algn="l" defTabSz="457189" rtl="0" eaLnBrk="1" latinLnBrk="0" hangingPunct="1">
        <a:lnSpc>
          <a:spcPct val="110000"/>
        </a:lnSpc>
        <a:spcBef>
          <a:spcPct val="0"/>
        </a:spcBef>
        <a:buNone/>
        <a:defRPr sz="2700" b="0" kern="1200">
          <a:solidFill>
            <a:schemeClr val="accent1"/>
          </a:solidFill>
          <a:latin typeface="+mj-lt"/>
          <a:ea typeface="+mj-ea"/>
          <a:cs typeface="+mj-cs"/>
        </a:defRPr>
      </a:lvl1pPr>
    </p:titleStyle>
    <p:bodyStyle>
      <a:lvl1pPr marL="342891" indent="-342891" algn="l" defTabSz="457189" rtl="0" eaLnBrk="1" latinLnBrk="0" hangingPunct="1">
        <a:lnSpc>
          <a:spcPct val="120000"/>
        </a:lnSpc>
        <a:spcBef>
          <a:spcPct val="20000"/>
        </a:spcBef>
        <a:buFont typeface="Arial"/>
        <a:buChar char="•"/>
        <a:defRPr sz="2400" kern="1200">
          <a:solidFill>
            <a:schemeClr val="tx1"/>
          </a:solidFill>
          <a:latin typeface="+mn-lt"/>
          <a:ea typeface="+mn-ea"/>
          <a:cs typeface="+mn-cs"/>
        </a:defRPr>
      </a:lvl1pPr>
      <a:lvl2pPr marL="742932" indent="-285744" algn="l" defTabSz="457189" rtl="0" eaLnBrk="1" latinLnBrk="0" hangingPunct="1">
        <a:lnSpc>
          <a:spcPct val="120000"/>
        </a:lnSpc>
        <a:spcBef>
          <a:spcPct val="20000"/>
        </a:spcBef>
        <a:buFont typeface="Arial"/>
        <a:buChar char="–"/>
        <a:defRPr sz="2000" kern="1200">
          <a:solidFill>
            <a:schemeClr val="tx1"/>
          </a:solidFill>
          <a:latin typeface="+mn-lt"/>
          <a:ea typeface="+mn-ea"/>
          <a:cs typeface="+mn-cs"/>
        </a:defRPr>
      </a:lvl2pPr>
      <a:lvl3pPr marL="1142971" indent="-228594" algn="l" defTabSz="457189" rtl="0" eaLnBrk="1" latinLnBrk="0" hangingPunct="1">
        <a:lnSpc>
          <a:spcPct val="120000"/>
        </a:lnSpc>
        <a:spcBef>
          <a:spcPct val="20000"/>
        </a:spcBef>
        <a:buFont typeface="Arial"/>
        <a:buChar char="•"/>
        <a:defRPr sz="1800" kern="1200">
          <a:solidFill>
            <a:schemeClr val="tx1"/>
          </a:solidFill>
          <a:latin typeface="+mn-lt"/>
          <a:ea typeface="+mn-ea"/>
          <a:cs typeface="+mn-cs"/>
        </a:defRPr>
      </a:lvl3pPr>
      <a:lvl4pPr marL="1600160" indent="-228594" algn="l" defTabSz="457189" rtl="0" eaLnBrk="1" latinLnBrk="0" hangingPunct="1">
        <a:lnSpc>
          <a:spcPct val="120000"/>
        </a:lnSpc>
        <a:spcBef>
          <a:spcPct val="20000"/>
        </a:spcBef>
        <a:buFont typeface="Arial"/>
        <a:buChar char="–"/>
        <a:defRPr sz="1600" kern="1200">
          <a:solidFill>
            <a:schemeClr val="tx1"/>
          </a:solidFill>
          <a:latin typeface="+mn-lt"/>
          <a:ea typeface="+mn-ea"/>
          <a:cs typeface="+mn-cs"/>
        </a:defRPr>
      </a:lvl4pPr>
      <a:lvl5pPr marL="2057349" indent="-228594" algn="l" defTabSz="457189" rtl="0" eaLnBrk="1" latinLnBrk="0" hangingPunct="1">
        <a:lnSpc>
          <a:spcPct val="120000"/>
        </a:lnSpc>
        <a:spcBef>
          <a:spcPct val="20000"/>
        </a:spcBef>
        <a:buFont typeface="Arial"/>
        <a:buChar char="»"/>
        <a:defRPr sz="1600" kern="1200">
          <a:solidFill>
            <a:schemeClr val="tx1"/>
          </a:solidFill>
          <a:latin typeface="+mn-lt"/>
          <a:ea typeface="+mn-ea"/>
          <a:cs typeface="+mn-cs"/>
        </a:defRPr>
      </a:lvl5pPr>
      <a:lvl6pPr marL="2514537" indent="-228594" algn="l" defTabSz="457189" rtl="0" eaLnBrk="1" latinLnBrk="0" hangingPunct="1">
        <a:lnSpc>
          <a:spcPct val="120000"/>
        </a:lnSpc>
        <a:spcBef>
          <a:spcPct val="20000"/>
        </a:spcBef>
        <a:buFont typeface="Arial"/>
        <a:buChar char="•"/>
        <a:defRPr sz="1600" kern="1200">
          <a:solidFill>
            <a:schemeClr val="tx1"/>
          </a:solidFill>
          <a:latin typeface="+mn-lt"/>
          <a:ea typeface="+mn-ea"/>
          <a:cs typeface="+mn-cs"/>
        </a:defRPr>
      </a:lvl6pPr>
      <a:lvl7pPr marL="2971726" indent="-228594" algn="l" defTabSz="457189" rtl="0" eaLnBrk="1" latinLnBrk="0" hangingPunct="1">
        <a:lnSpc>
          <a:spcPct val="120000"/>
        </a:lnSpc>
        <a:spcBef>
          <a:spcPct val="20000"/>
        </a:spcBef>
        <a:buFont typeface="Arial"/>
        <a:buChar char="•"/>
        <a:defRPr sz="1600" kern="1200">
          <a:solidFill>
            <a:schemeClr val="tx1"/>
          </a:solidFill>
          <a:latin typeface="+mn-lt"/>
          <a:ea typeface="+mn-ea"/>
          <a:cs typeface="+mn-cs"/>
        </a:defRPr>
      </a:lvl7pPr>
      <a:lvl8pPr marL="3428914" indent="-228594" algn="l" defTabSz="457189" rtl="0" eaLnBrk="1" latinLnBrk="0" hangingPunct="1">
        <a:lnSpc>
          <a:spcPct val="120000"/>
        </a:lnSpc>
        <a:spcBef>
          <a:spcPct val="20000"/>
        </a:spcBef>
        <a:buFont typeface="Arial"/>
        <a:buChar char="•"/>
        <a:defRPr sz="1600" kern="1200">
          <a:solidFill>
            <a:schemeClr val="tx1"/>
          </a:solidFill>
          <a:latin typeface="+mn-lt"/>
          <a:ea typeface="+mn-ea"/>
          <a:cs typeface="+mn-cs"/>
        </a:defRPr>
      </a:lvl8pPr>
      <a:lvl9pPr marL="3886103" indent="-228594" algn="l" defTabSz="457189" rtl="0" eaLnBrk="1" latinLnBrk="0" hangingPunct="1">
        <a:lnSpc>
          <a:spcPct val="120000"/>
        </a:lnSpc>
        <a:spcBef>
          <a:spcPct val="20000"/>
        </a:spcBef>
        <a:buFont typeface="Arial"/>
        <a:buChar char="•"/>
        <a:defRPr sz="1600" kern="1200">
          <a:solidFill>
            <a:schemeClr val="tx1"/>
          </a:solidFill>
          <a:latin typeface="+mn-lt"/>
          <a:ea typeface="+mn-ea"/>
          <a:cs typeface="+mn-cs"/>
        </a:defRPr>
      </a:lvl9pPr>
    </p:bodyStyle>
    <p:otherStyle>
      <a:defPPr>
        <a:defRPr lang="en-US"/>
      </a:defPPr>
      <a:lvl1pPr marL="0" algn="l" defTabSz="457189" rtl="0" eaLnBrk="1" latinLnBrk="0" hangingPunct="1">
        <a:defRPr sz="1800" kern="1200">
          <a:solidFill>
            <a:schemeClr val="tx1"/>
          </a:solidFill>
          <a:latin typeface="+mn-lt"/>
          <a:ea typeface="+mn-ea"/>
          <a:cs typeface="+mn-cs"/>
        </a:defRPr>
      </a:lvl1pPr>
      <a:lvl2pPr marL="457189" algn="l" defTabSz="457189" rtl="0" eaLnBrk="1" latinLnBrk="0" hangingPunct="1">
        <a:defRPr sz="1800" kern="1200">
          <a:solidFill>
            <a:schemeClr val="tx1"/>
          </a:solidFill>
          <a:latin typeface="+mn-lt"/>
          <a:ea typeface="+mn-ea"/>
          <a:cs typeface="+mn-cs"/>
        </a:defRPr>
      </a:lvl2pPr>
      <a:lvl3pPr marL="914377" algn="l" defTabSz="457189" rtl="0" eaLnBrk="1" latinLnBrk="0" hangingPunct="1">
        <a:defRPr sz="1800" kern="1200">
          <a:solidFill>
            <a:schemeClr val="tx1"/>
          </a:solidFill>
          <a:latin typeface="+mn-lt"/>
          <a:ea typeface="+mn-ea"/>
          <a:cs typeface="+mn-cs"/>
        </a:defRPr>
      </a:lvl3pPr>
      <a:lvl4pPr marL="1371566" algn="l" defTabSz="457189" rtl="0" eaLnBrk="1" latinLnBrk="0" hangingPunct="1">
        <a:defRPr sz="1800" kern="1200">
          <a:solidFill>
            <a:schemeClr val="tx1"/>
          </a:solidFill>
          <a:latin typeface="+mn-lt"/>
          <a:ea typeface="+mn-ea"/>
          <a:cs typeface="+mn-cs"/>
        </a:defRPr>
      </a:lvl4pPr>
      <a:lvl5pPr marL="1828754" algn="l" defTabSz="457189" rtl="0" eaLnBrk="1" latinLnBrk="0" hangingPunct="1">
        <a:defRPr sz="1800" kern="1200">
          <a:solidFill>
            <a:schemeClr val="tx1"/>
          </a:solidFill>
          <a:latin typeface="+mn-lt"/>
          <a:ea typeface="+mn-ea"/>
          <a:cs typeface="+mn-cs"/>
        </a:defRPr>
      </a:lvl5pPr>
      <a:lvl6pPr marL="2285943" algn="l" defTabSz="457189" rtl="0" eaLnBrk="1" latinLnBrk="0" hangingPunct="1">
        <a:defRPr sz="1800" kern="1200">
          <a:solidFill>
            <a:schemeClr val="tx1"/>
          </a:solidFill>
          <a:latin typeface="+mn-lt"/>
          <a:ea typeface="+mn-ea"/>
          <a:cs typeface="+mn-cs"/>
        </a:defRPr>
      </a:lvl6pPr>
      <a:lvl7pPr marL="2743131" algn="l" defTabSz="457189" rtl="0" eaLnBrk="1" latinLnBrk="0" hangingPunct="1">
        <a:defRPr sz="1800" kern="1200">
          <a:solidFill>
            <a:schemeClr val="tx1"/>
          </a:solidFill>
          <a:latin typeface="+mn-lt"/>
          <a:ea typeface="+mn-ea"/>
          <a:cs typeface="+mn-cs"/>
        </a:defRPr>
      </a:lvl7pPr>
      <a:lvl8pPr marL="3200320" algn="l" defTabSz="457189" rtl="0" eaLnBrk="1" latinLnBrk="0" hangingPunct="1">
        <a:defRPr sz="1800" kern="1200">
          <a:solidFill>
            <a:schemeClr val="tx1"/>
          </a:solidFill>
          <a:latin typeface="+mn-lt"/>
          <a:ea typeface="+mn-ea"/>
          <a:cs typeface="+mn-cs"/>
        </a:defRPr>
      </a:lvl8pPr>
      <a:lvl9pPr marL="3657509" algn="l" defTabSz="457189"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hyperlink" Target="https://medium.com/understanding-recommenders/how-platform-recommenders-work-15e260d9a15a" TargetMode="Externa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hyperlink" Target="https://btrantruong.github.io/algo-exp-research-course/lectures/01/feed-ranking-demo.html" TargetMode="Externa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hyperlink" Target="https://app.greenearth.social/#/settings/your-feed" TargetMode="Externa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hyperlink" Target="https://www.prosocialdesign.org/" TargetMode="Externa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hyperlink" Target="https://knightcolumbia.org/content/understanding-social-media-recommendation-algorithms" TargetMode="External"/><Relationship Id="rId2" Type="http://schemas.openxmlformats.org/officeDocument/2006/relationships/hyperlink" Target="https://www.prosocialdesign.org/primers?"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a:spLocks noGrp="1"/>
          </p:cNvSpPr>
          <p:nvPr>
            <p:ph type="ctrTitle"/>
          </p:nvPr>
        </p:nvSpPr>
        <p:spPr/>
        <p:txBody>
          <a:bodyPr/>
          <a:lstStyle/>
          <a:p>
            <a:r>
              <a:rPr lang="en-US" dirty="0"/>
              <a:t>Intro to Algorithmically Curated Feeds</a:t>
            </a:r>
          </a:p>
        </p:txBody>
      </p:sp>
      <p:sp>
        <p:nvSpPr>
          <p:cNvPr id="10" name="Subtitle 2"/>
          <p:cNvSpPr>
            <a:spLocks noGrp="1"/>
          </p:cNvSpPr>
          <p:nvPr>
            <p:ph type="subTitle" idx="1"/>
          </p:nvPr>
        </p:nvSpPr>
        <p:spPr/>
        <p:txBody>
          <a:bodyPr/>
          <a:lstStyle/>
          <a:p>
            <a:r>
              <a:rPr lang="en-US" dirty="0"/>
              <a:t>Bao T. Truong      · 22.10.2026</a:t>
            </a:r>
          </a:p>
        </p:txBody>
      </p:sp>
      <p:sp>
        <p:nvSpPr>
          <p:cNvPr id="3" name="Text Placeholder 2">
            <a:extLst>
              <a:ext uri="{FF2B5EF4-FFF2-40B4-BE49-F238E27FC236}">
                <a16:creationId xmlns:a16="http://schemas.microsoft.com/office/drawing/2014/main" id="{F0285713-BBF0-8DF5-8228-86F7D066AC10}"/>
              </a:ext>
            </a:extLst>
          </p:cNvPr>
          <p:cNvSpPr>
            <a:spLocks noGrp="1"/>
          </p:cNvSpPr>
          <p:nvPr>
            <p:ph type="body" sz="quarter" idx="13"/>
          </p:nvPr>
        </p:nvSpPr>
        <p:spPr/>
        <p:txBody>
          <a:bodyPr/>
          <a:lstStyle/>
          <a:p>
            <a:endParaRPr lang="en-US"/>
          </a:p>
        </p:txBody>
      </p:sp>
    </p:spTree>
    <p:extLst>
      <p:ext uri="{BB962C8B-B14F-4D97-AF65-F5344CB8AC3E}">
        <p14:creationId xmlns:p14="http://schemas.microsoft.com/office/powerpoint/2010/main" val="259047748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96F4AB-72AA-32C0-5CFC-6B0DC39EF719}"/>
              </a:ext>
            </a:extLst>
          </p:cNvPr>
          <p:cNvSpPr>
            <a:spLocks noGrp="1"/>
          </p:cNvSpPr>
          <p:nvPr>
            <p:ph type="title"/>
          </p:nvPr>
        </p:nvSpPr>
        <p:spPr>
          <a:xfrm>
            <a:off x="820056" y="1805282"/>
            <a:ext cx="2569029" cy="633117"/>
          </a:xfrm>
        </p:spPr>
        <p:txBody>
          <a:bodyPr>
            <a:normAutofit fontScale="90000"/>
          </a:bodyPr>
          <a:lstStyle/>
          <a:p>
            <a:r>
              <a:rPr lang="en-US" dirty="0"/>
              <a:t>Curation is how sites decide which posts goes in the feed and in what order they’re displayed</a:t>
            </a:r>
          </a:p>
        </p:txBody>
      </p:sp>
      <p:sp>
        <p:nvSpPr>
          <p:cNvPr id="3" name="Text Placeholder 2">
            <a:extLst>
              <a:ext uri="{FF2B5EF4-FFF2-40B4-BE49-F238E27FC236}">
                <a16:creationId xmlns:a16="http://schemas.microsoft.com/office/drawing/2014/main" id="{89F09302-8B61-4C71-A918-D9EB7195BF1D}"/>
              </a:ext>
            </a:extLst>
          </p:cNvPr>
          <p:cNvSpPr>
            <a:spLocks noGrp="1"/>
          </p:cNvSpPr>
          <p:nvPr>
            <p:ph type="body" sz="quarter" idx="14"/>
          </p:nvPr>
        </p:nvSpPr>
        <p:spPr/>
        <p:txBody>
          <a:bodyPr/>
          <a:lstStyle/>
          <a:p>
            <a:r>
              <a:rPr lang="en-US" dirty="0"/>
              <a:t>An example of a feed on Bluesky</a:t>
            </a:r>
          </a:p>
        </p:txBody>
      </p:sp>
      <p:sp>
        <p:nvSpPr>
          <p:cNvPr id="4" name="Slide Number Placeholder 3">
            <a:extLst>
              <a:ext uri="{FF2B5EF4-FFF2-40B4-BE49-F238E27FC236}">
                <a16:creationId xmlns:a16="http://schemas.microsoft.com/office/drawing/2014/main" id="{A6477904-5BD2-4717-8A3A-7F929CD8275E}"/>
              </a:ext>
            </a:extLst>
          </p:cNvPr>
          <p:cNvSpPr>
            <a:spLocks noGrp="1"/>
          </p:cNvSpPr>
          <p:nvPr>
            <p:ph type="sldNum" sz="quarter" idx="12"/>
          </p:nvPr>
        </p:nvSpPr>
        <p:spPr/>
        <p:txBody>
          <a:bodyPr/>
          <a:lstStyle/>
          <a:p>
            <a:fld id="{C1FF6DA9-008F-8B48-92A6-B652298478BF}" type="slidenum">
              <a:rPr lang="en-US" smtClean="0"/>
              <a:t>1</a:t>
            </a:fld>
            <a:endParaRPr lang="en-US"/>
          </a:p>
        </p:txBody>
      </p:sp>
      <p:pic>
        <p:nvPicPr>
          <p:cNvPr id="6" name="Picture 5">
            <a:extLst>
              <a:ext uri="{FF2B5EF4-FFF2-40B4-BE49-F238E27FC236}">
                <a16:creationId xmlns:a16="http://schemas.microsoft.com/office/drawing/2014/main" id="{F8B50543-BEF7-B1E7-5C94-B179BB2055C7}"/>
              </a:ext>
            </a:extLst>
          </p:cNvPr>
          <p:cNvPicPr>
            <a:picLocks noChangeAspect="1"/>
          </p:cNvPicPr>
          <p:nvPr/>
        </p:nvPicPr>
        <p:blipFill>
          <a:blip r:embed="rId2"/>
          <a:srcRect l="16963"/>
          <a:stretch>
            <a:fillRect/>
          </a:stretch>
        </p:blipFill>
        <p:spPr>
          <a:xfrm>
            <a:off x="4122057" y="327757"/>
            <a:ext cx="6066972" cy="5567029"/>
          </a:xfrm>
          <a:prstGeom prst="rect">
            <a:avLst/>
          </a:prstGeom>
        </p:spPr>
      </p:pic>
      <p:sp>
        <p:nvSpPr>
          <p:cNvPr id="7" name="Rectangle 6">
            <a:extLst>
              <a:ext uri="{FF2B5EF4-FFF2-40B4-BE49-F238E27FC236}">
                <a16:creationId xmlns:a16="http://schemas.microsoft.com/office/drawing/2014/main" id="{9F9E95C8-A2B6-FEA6-59E9-34F967AD44FC}"/>
              </a:ext>
            </a:extLst>
          </p:cNvPr>
          <p:cNvSpPr/>
          <p:nvPr/>
        </p:nvSpPr>
        <p:spPr>
          <a:xfrm>
            <a:off x="4296229" y="327757"/>
            <a:ext cx="3875314" cy="5567029"/>
          </a:xfrm>
          <a:prstGeom prst="rect">
            <a:avLst/>
          </a:prstGeom>
          <a:noFill/>
          <a:ln w="19050">
            <a:solidFill>
              <a:schemeClr val="tx2">
                <a:lumMod val="40000"/>
                <a:lumOff val="6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43495098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875B31-883E-D49D-1E88-6BDAE2008FBA}"/>
              </a:ext>
            </a:extLst>
          </p:cNvPr>
          <p:cNvSpPr>
            <a:spLocks noGrp="1"/>
          </p:cNvSpPr>
          <p:nvPr>
            <p:ph type="title"/>
          </p:nvPr>
        </p:nvSpPr>
        <p:spPr/>
        <p:txBody>
          <a:bodyPr/>
          <a:lstStyle/>
          <a:p>
            <a:r>
              <a:rPr lang="en-US" dirty="0"/>
              <a:t>Objectives</a:t>
            </a:r>
          </a:p>
        </p:txBody>
      </p:sp>
      <p:sp>
        <p:nvSpPr>
          <p:cNvPr id="3" name="Text Placeholder 2">
            <a:extLst>
              <a:ext uri="{FF2B5EF4-FFF2-40B4-BE49-F238E27FC236}">
                <a16:creationId xmlns:a16="http://schemas.microsoft.com/office/drawing/2014/main" id="{4FBC7CBE-7C16-E2F0-A9ED-C045353744B4}"/>
              </a:ext>
            </a:extLst>
          </p:cNvPr>
          <p:cNvSpPr>
            <a:spLocks noGrp="1"/>
          </p:cNvSpPr>
          <p:nvPr>
            <p:ph type="body" sz="quarter" idx="14"/>
          </p:nvPr>
        </p:nvSpPr>
        <p:spPr/>
        <p:txBody>
          <a:bodyPr/>
          <a:lstStyle/>
          <a:p>
            <a:endParaRPr lang="en-US"/>
          </a:p>
        </p:txBody>
      </p:sp>
      <p:sp>
        <p:nvSpPr>
          <p:cNvPr id="4" name="Slide Number Placeholder 3">
            <a:extLst>
              <a:ext uri="{FF2B5EF4-FFF2-40B4-BE49-F238E27FC236}">
                <a16:creationId xmlns:a16="http://schemas.microsoft.com/office/drawing/2014/main" id="{D5259BAE-02FB-99A9-A111-918A632E2086}"/>
              </a:ext>
            </a:extLst>
          </p:cNvPr>
          <p:cNvSpPr>
            <a:spLocks noGrp="1"/>
          </p:cNvSpPr>
          <p:nvPr>
            <p:ph type="sldNum" sz="quarter" idx="12"/>
          </p:nvPr>
        </p:nvSpPr>
        <p:spPr/>
        <p:txBody>
          <a:bodyPr/>
          <a:lstStyle/>
          <a:p>
            <a:fld id="{C1FF6DA9-008F-8B48-92A6-B652298478BF}" type="slidenum">
              <a:rPr lang="en-US" smtClean="0"/>
              <a:t>2</a:t>
            </a:fld>
            <a:endParaRPr lang="en-US"/>
          </a:p>
        </p:txBody>
      </p:sp>
      <p:sp>
        <p:nvSpPr>
          <p:cNvPr id="5" name="Content Placeholder 4">
            <a:extLst>
              <a:ext uri="{FF2B5EF4-FFF2-40B4-BE49-F238E27FC236}">
                <a16:creationId xmlns:a16="http://schemas.microsoft.com/office/drawing/2014/main" id="{F070D698-0831-335B-29DA-2EF70729713B}"/>
              </a:ext>
            </a:extLst>
          </p:cNvPr>
          <p:cNvSpPr>
            <a:spLocks noGrp="1"/>
          </p:cNvSpPr>
          <p:nvPr>
            <p:ph idx="1"/>
          </p:nvPr>
        </p:nvSpPr>
        <p:spPr/>
        <p:txBody>
          <a:bodyPr>
            <a:normAutofit/>
          </a:bodyPr>
          <a:lstStyle/>
          <a:p>
            <a:pPr marL="285750" indent="-285750">
              <a:lnSpc>
                <a:spcPct val="150000"/>
              </a:lnSpc>
              <a:buFont typeface="Arial" panose="020B0604020202020204" pitchFamily="34" charset="0"/>
              <a:buChar char="•"/>
            </a:pPr>
            <a:r>
              <a:rPr lang="en-US" dirty="0"/>
              <a:t>Explain the basic stages of an algorithmically curated feed</a:t>
            </a:r>
          </a:p>
          <a:p>
            <a:pPr marL="285750" indent="-285750">
              <a:lnSpc>
                <a:spcPct val="150000"/>
              </a:lnSpc>
              <a:buFont typeface="Arial" panose="020B0604020202020204" pitchFamily="34" charset="0"/>
              <a:buChar char="•"/>
            </a:pPr>
            <a:r>
              <a:rPr lang="en-US" dirty="0"/>
              <a:t>Apply simple filtering and scoring rules to select and order posts</a:t>
            </a:r>
          </a:p>
          <a:p>
            <a:pPr marL="285750" indent="-285750">
              <a:lnSpc>
                <a:spcPct val="150000"/>
              </a:lnSpc>
              <a:buFont typeface="Arial" panose="020B0604020202020204" pitchFamily="34" charset="0"/>
              <a:buChar char="•"/>
            </a:pPr>
            <a:r>
              <a:rPr lang="en-US" dirty="0"/>
              <a:t>Understand how practical constraints and design choices influence what users see.</a:t>
            </a:r>
          </a:p>
          <a:p>
            <a:pPr marL="285750" indent="-285750">
              <a:lnSpc>
                <a:spcPct val="150000"/>
              </a:lnSpc>
              <a:buFont typeface="Arial" panose="020B0604020202020204" pitchFamily="34" charset="0"/>
              <a:buChar char="•"/>
            </a:pPr>
            <a:r>
              <a:rPr lang="en-US" dirty="0"/>
              <a:t>Start thinking about a modification to the pipeline and formulate a testable hypothesis about its consequences.</a:t>
            </a:r>
          </a:p>
          <a:p>
            <a:endParaRPr lang="en-US" dirty="0"/>
          </a:p>
        </p:txBody>
      </p:sp>
    </p:spTree>
    <p:extLst>
      <p:ext uri="{BB962C8B-B14F-4D97-AF65-F5344CB8AC3E}">
        <p14:creationId xmlns:p14="http://schemas.microsoft.com/office/powerpoint/2010/main" val="167874508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E8AD4C-DD8F-9D58-9DD7-F39A9BF84A98}"/>
              </a:ext>
            </a:extLst>
          </p:cNvPr>
          <p:cNvSpPr>
            <a:spLocks noGrp="1"/>
          </p:cNvSpPr>
          <p:nvPr>
            <p:ph type="title"/>
          </p:nvPr>
        </p:nvSpPr>
        <p:spPr/>
        <p:txBody>
          <a:bodyPr/>
          <a:lstStyle/>
          <a:p>
            <a:r>
              <a:rPr lang="en-US" dirty="0"/>
              <a:t>Why do we need curation?</a:t>
            </a:r>
          </a:p>
        </p:txBody>
      </p:sp>
      <p:sp>
        <p:nvSpPr>
          <p:cNvPr id="3" name="Text Placeholder 2">
            <a:extLst>
              <a:ext uri="{FF2B5EF4-FFF2-40B4-BE49-F238E27FC236}">
                <a16:creationId xmlns:a16="http://schemas.microsoft.com/office/drawing/2014/main" id="{7D5FD760-3BCB-719C-737C-1D338868B39F}"/>
              </a:ext>
            </a:extLst>
          </p:cNvPr>
          <p:cNvSpPr>
            <a:spLocks noGrp="1"/>
          </p:cNvSpPr>
          <p:nvPr>
            <p:ph type="body" sz="quarter" idx="14"/>
          </p:nvPr>
        </p:nvSpPr>
        <p:spPr/>
        <p:txBody>
          <a:bodyPr/>
          <a:lstStyle/>
          <a:p>
            <a:endParaRPr lang="en-US"/>
          </a:p>
        </p:txBody>
      </p:sp>
      <p:sp>
        <p:nvSpPr>
          <p:cNvPr id="4" name="Slide Number Placeholder 3">
            <a:extLst>
              <a:ext uri="{FF2B5EF4-FFF2-40B4-BE49-F238E27FC236}">
                <a16:creationId xmlns:a16="http://schemas.microsoft.com/office/drawing/2014/main" id="{2C023BA7-45C0-74AB-BBE0-1A8832AA8E43}"/>
              </a:ext>
            </a:extLst>
          </p:cNvPr>
          <p:cNvSpPr>
            <a:spLocks noGrp="1"/>
          </p:cNvSpPr>
          <p:nvPr>
            <p:ph type="sldNum" sz="quarter" idx="12"/>
          </p:nvPr>
        </p:nvSpPr>
        <p:spPr/>
        <p:txBody>
          <a:bodyPr/>
          <a:lstStyle/>
          <a:p>
            <a:fld id="{C1FF6DA9-008F-8B48-92A6-B652298478BF}" type="slidenum">
              <a:rPr lang="en-US" smtClean="0"/>
              <a:t>3</a:t>
            </a:fld>
            <a:endParaRPr lang="en-US"/>
          </a:p>
        </p:txBody>
      </p:sp>
      <p:sp>
        <p:nvSpPr>
          <p:cNvPr id="5" name="Content Placeholder 4">
            <a:extLst>
              <a:ext uri="{FF2B5EF4-FFF2-40B4-BE49-F238E27FC236}">
                <a16:creationId xmlns:a16="http://schemas.microsoft.com/office/drawing/2014/main" id="{370E66DF-C8C1-063E-E746-29F560FA71FB}"/>
              </a:ext>
            </a:extLst>
          </p:cNvPr>
          <p:cNvSpPr>
            <a:spLocks noGrp="1"/>
          </p:cNvSpPr>
          <p:nvPr>
            <p:ph idx="1"/>
          </p:nvPr>
        </p:nvSpPr>
        <p:spPr/>
        <p:txBody>
          <a:bodyPr/>
          <a:lstStyle/>
          <a:p>
            <a:pPr marL="285750" indent="-285750">
              <a:lnSpc>
                <a:spcPct val="150000"/>
              </a:lnSpc>
              <a:buFont typeface="Arial" panose="020B0604020202020204" pitchFamily="34" charset="0"/>
              <a:buChar char="•"/>
            </a:pPr>
            <a:r>
              <a:rPr lang="en-US" dirty="0"/>
              <a:t>Helps users find relevant items when there are too many choices</a:t>
            </a:r>
          </a:p>
          <a:p>
            <a:pPr marL="285750" indent="-285750">
              <a:lnSpc>
                <a:spcPct val="150000"/>
              </a:lnSpc>
              <a:buFont typeface="Arial" panose="020B0604020202020204" pitchFamily="34" charset="0"/>
              <a:buChar char="•"/>
            </a:pPr>
            <a:r>
              <a:rPr lang="en-US" dirty="0"/>
              <a:t>Reduce information overload and support decision-making</a:t>
            </a:r>
          </a:p>
          <a:p>
            <a:pPr marL="285750" indent="-285750">
              <a:lnSpc>
                <a:spcPct val="150000"/>
              </a:lnSpc>
              <a:buFont typeface="Arial" panose="020B0604020202020204" pitchFamily="34" charset="0"/>
              <a:buChar char="•"/>
            </a:pPr>
            <a:endParaRPr lang="en-US" dirty="0"/>
          </a:p>
          <a:p>
            <a:pPr marL="285750" indent="-285750">
              <a:lnSpc>
                <a:spcPct val="150000"/>
              </a:lnSpc>
              <a:buFont typeface="Arial" panose="020B0604020202020204" pitchFamily="34" charset="0"/>
              <a:buChar char="•"/>
            </a:pPr>
            <a:r>
              <a:rPr lang="en-US" dirty="0"/>
              <a:t>Inspired by social navigation — sharing knowledge to guide others </a:t>
            </a:r>
          </a:p>
          <a:p>
            <a:pPr marL="742939" lvl="1" indent="-285750">
              <a:lnSpc>
                <a:spcPct val="150000"/>
              </a:lnSpc>
              <a:buFont typeface="Arial" panose="020B0604020202020204" pitchFamily="34" charset="0"/>
              <a:buChar char="•"/>
            </a:pPr>
            <a:r>
              <a:rPr lang="en-US" dirty="0"/>
              <a:t>Ants leave trails → guide others to food</a:t>
            </a:r>
          </a:p>
          <a:p>
            <a:pPr marL="742939" lvl="1" indent="-285750">
              <a:lnSpc>
                <a:spcPct val="150000"/>
              </a:lnSpc>
              <a:buFont typeface="Arial" panose="020B0604020202020204" pitchFamily="34" charset="0"/>
              <a:buChar char="•"/>
            </a:pPr>
            <a:r>
              <a:rPr lang="en-US" dirty="0"/>
              <a:t>Humans rely on others’ experiences (e.g., trying food, critics)</a:t>
            </a:r>
          </a:p>
          <a:p>
            <a:endParaRPr lang="en-US" dirty="0"/>
          </a:p>
          <a:p>
            <a:endParaRPr lang="en-US" dirty="0"/>
          </a:p>
        </p:txBody>
      </p:sp>
    </p:spTree>
    <p:extLst>
      <p:ext uri="{BB962C8B-B14F-4D97-AF65-F5344CB8AC3E}">
        <p14:creationId xmlns:p14="http://schemas.microsoft.com/office/powerpoint/2010/main" val="298291062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5B895B-ACCA-9EEC-2497-2E8458C63B8E}"/>
              </a:ext>
            </a:extLst>
          </p:cNvPr>
          <p:cNvSpPr>
            <a:spLocks noGrp="1"/>
          </p:cNvSpPr>
          <p:nvPr>
            <p:ph type="title"/>
          </p:nvPr>
        </p:nvSpPr>
        <p:spPr/>
        <p:txBody>
          <a:bodyPr/>
          <a:lstStyle/>
          <a:p>
            <a:r>
              <a:rPr lang="en-US" dirty="0"/>
              <a:t>Curation is built on recommender systems  </a:t>
            </a:r>
          </a:p>
        </p:txBody>
      </p:sp>
      <p:sp>
        <p:nvSpPr>
          <p:cNvPr id="3" name="Text Placeholder 2">
            <a:extLst>
              <a:ext uri="{FF2B5EF4-FFF2-40B4-BE49-F238E27FC236}">
                <a16:creationId xmlns:a16="http://schemas.microsoft.com/office/drawing/2014/main" id="{278B9FA3-6F10-3484-067E-E7B87A4F3927}"/>
              </a:ext>
            </a:extLst>
          </p:cNvPr>
          <p:cNvSpPr>
            <a:spLocks noGrp="1"/>
          </p:cNvSpPr>
          <p:nvPr>
            <p:ph type="body" sz="quarter" idx="14"/>
          </p:nvPr>
        </p:nvSpPr>
        <p:spPr/>
        <p:txBody>
          <a:bodyPr/>
          <a:lstStyle/>
          <a:p>
            <a:endParaRPr lang="en-US"/>
          </a:p>
        </p:txBody>
      </p:sp>
      <p:sp>
        <p:nvSpPr>
          <p:cNvPr id="4" name="Slide Number Placeholder 3">
            <a:extLst>
              <a:ext uri="{FF2B5EF4-FFF2-40B4-BE49-F238E27FC236}">
                <a16:creationId xmlns:a16="http://schemas.microsoft.com/office/drawing/2014/main" id="{FFEFC11A-6462-3828-A4B9-F7FBA360EBAF}"/>
              </a:ext>
            </a:extLst>
          </p:cNvPr>
          <p:cNvSpPr>
            <a:spLocks noGrp="1"/>
          </p:cNvSpPr>
          <p:nvPr>
            <p:ph type="sldNum" sz="quarter" idx="12"/>
          </p:nvPr>
        </p:nvSpPr>
        <p:spPr/>
        <p:txBody>
          <a:bodyPr/>
          <a:lstStyle/>
          <a:p>
            <a:fld id="{C1FF6DA9-008F-8B48-92A6-B652298478BF}" type="slidenum">
              <a:rPr lang="en-US" smtClean="0"/>
              <a:t>4</a:t>
            </a:fld>
            <a:endParaRPr lang="en-US"/>
          </a:p>
        </p:txBody>
      </p:sp>
      <p:sp>
        <p:nvSpPr>
          <p:cNvPr id="5" name="Content Placeholder 4">
            <a:extLst>
              <a:ext uri="{FF2B5EF4-FFF2-40B4-BE49-F238E27FC236}">
                <a16:creationId xmlns:a16="http://schemas.microsoft.com/office/drawing/2014/main" id="{989F118F-B40E-CF94-298C-1EDC0FA61218}"/>
              </a:ext>
            </a:extLst>
          </p:cNvPr>
          <p:cNvSpPr>
            <a:spLocks noGrp="1"/>
          </p:cNvSpPr>
          <p:nvPr>
            <p:ph idx="1"/>
          </p:nvPr>
        </p:nvSpPr>
        <p:spPr/>
        <p:txBody>
          <a:bodyPr/>
          <a:lstStyle/>
          <a:p>
            <a:pPr marL="285750" indent="-285750">
              <a:lnSpc>
                <a:spcPct val="150000"/>
              </a:lnSpc>
              <a:buFont typeface="Arial" panose="020B0604020202020204" pitchFamily="34" charset="0"/>
              <a:buChar char="•"/>
            </a:pPr>
            <a:r>
              <a:rPr lang="en-US" dirty="0"/>
              <a:t>Recommender systems became widespread in the mid–late 1990s</a:t>
            </a:r>
          </a:p>
          <a:p>
            <a:pPr marL="285750" indent="-285750">
              <a:lnSpc>
                <a:spcPct val="150000"/>
              </a:lnSpc>
              <a:buFont typeface="Arial" panose="020B0604020202020204" pitchFamily="34" charset="0"/>
              <a:buChar char="•"/>
            </a:pPr>
            <a:r>
              <a:rPr lang="en-US" dirty="0"/>
              <a:t>Now ubiquitous in digital platforms</a:t>
            </a:r>
          </a:p>
          <a:p>
            <a:endParaRPr lang="en-US" dirty="0"/>
          </a:p>
        </p:txBody>
      </p:sp>
      <p:pic>
        <p:nvPicPr>
          <p:cNvPr id="9" name="Picture 8">
            <a:extLst>
              <a:ext uri="{FF2B5EF4-FFF2-40B4-BE49-F238E27FC236}">
                <a16:creationId xmlns:a16="http://schemas.microsoft.com/office/drawing/2014/main" id="{A9F656F7-894A-2011-EE19-D4E1C29E927C}"/>
              </a:ext>
            </a:extLst>
          </p:cNvPr>
          <p:cNvPicPr>
            <a:picLocks noChangeAspect="1"/>
          </p:cNvPicPr>
          <p:nvPr/>
        </p:nvPicPr>
        <p:blipFill>
          <a:blip r:embed="rId2"/>
          <a:stretch>
            <a:fillRect/>
          </a:stretch>
        </p:blipFill>
        <p:spPr>
          <a:xfrm>
            <a:off x="1524000" y="2185888"/>
            <a:ext cx="6635664" cy="2487802"/>
          </a:xfrm>
          <a:prstGeom prst="rect">
            <a:avLst/>
          </a:prstGeom>
        </p:spPr>
      </p:pic>
      <p:pic>
        <p:nvPicPr>
          <p:cNvPr id="11" name="Picture 10">
            <a:extLst>
              <a:ext uri="{FF2B5EF4-FFF2-40B4-BE49-F238E27FC236}">
                <a16:creationId xmlns:a16="http://schemas.microsoft.com/office/drawing/2014/main" id="{168790D7-250A-B6C5-190B-1E66B46DF8D9}"/>
              </a:ext>
            </a:extLst>
          </p:cNvPr>
          <p:cNvPicPr>
            <a:picLocks noChangeAspect="1"/>
          </p:cNvPicPr>
          <p:nvPr/>
        </p:nvPicPr>
        <p:blipFill>
          <a:blip r:embed="rId3"/>
          <a:stretch>
            <a:fillRect/>
          </a:stretch>
        </p:blipFill>
        <p:spPr>
          <a:xfrm>
            <a:off x="4582246" y="3632379"/>
            <a:ext cx="6212114" cy="2082622"/>
          </a:xfrm>
          <a:prstGeom prst="rect">
            <a:avLst/>
          </a:prstGeom>
        </p:spPr>
      </p:pic>
    </p:spTree>
    <p:extLst>
      <p:ext uri="{BB962C8B-B14F-4D97-AF65-F5344CB8AC3E}">
        <p14:creationId xmlns:p14="http://schemas.microsoft.com/office/powerpoint/2010/main" val="40387803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60E1E8-349E-D35E-4D2A-96FFC625A9DF}"/>
              </a:ext>
            </a:extLst>
          </p:cNvPr>
          <p:cNvSpPr>
            <a:spLocks noGrp="1"/>
          </p:cNvSpPr>
          <p:nvPr>
            <p:ph type="title"/>
          </p:nvPr>
        </p:nvSpPr>
        <p:spPr/>
        <p:txBody>
          <a:bodyPr>
            <a:normAutofit fontScale="90000"/>
          </a:bodyPr>
          <a:lstStyle/>
          <a:p>
            <a:r>
              <a:rPr lang="en-US" dirty="0"/>
              <a:t>A typical algorithmic curation pipeline includes Retrieval + Ranking </a:t>
            </a:r>
          </a:p>
        </p:txBody>
      </p:sp>
      <p:sp>
        <p:nvSpPr>
          <p:cNvPr id="3" name="Text Placeholder 2">
            <a:extLst>
              <a:ext uri="{FF2B5EF4-FFF2-40B4-BE49-F238E27FC236}">
                <a16:creationId xmlns:a16="http://schemas.microsoft.com/office/drawing/2014/main" id="{E0C8AC88-BED1-8BCB-58B5-53E1C633D869}"/>
              </a:ext>
            </a:extLst>
          </p:cNvPr>
          <p:cNvSpPr>
            <a:spLocks noGrp="1"/>
          </p:cNvSpPr>
          <p:nvPr>
            <p:ph type="body" sz="quarter" idx="14"/>
          </p:nvPr>
        </p:nvSpPr>
        <p:spPr/>
        <p:txBody>
          <a:bodyPr/>
          <a:lstStyle/>
          <a:p>
            <a:r>
              <a:rPr lang="en-US" dirty="0">
                <a:hlinkClick r:id="rId2"/>
              </a:rPr>
              <a:t>How Platform Recommenders Work</a:t>
            </a:r>
            <a:endParaRPr lang="en-US" dirty="0"/>
          </a:p>
        </p:txBody>
      </p:sp>
      <p:sp>
        <p:nvSpPr>
          <p:cNvPr id="4" name="Slide Number Placeholder 3">
            <a:extLst>
              <a:ext uri="{FF2B5EF4-FFF2-40B4-BE49-F238E27FC236}">
                <a16:creationId xmlns:a16="http://schemas.microsoft.com/office/drawing/2014/main" id="{FFBAB818-4DA0-1C1B-0B72-68FE5A8FF9C4}"/>
              </a:ext>
            </a:extLst>
          </p:cNvPr>
          <p:cNvSpPr>
            <a:spLocks noGrp="1"/>
          </p:cNvSpPr>
          <p:nvPr>
            <p:ph type="sldNum" sz="quarter" idx="12"/>
          </p:nvPr>
        </p:nvSpPr>
        <p:spPr/>
        <p:txBody>
          <a:bodyPr/>
          <a:lstStyle/>
          <a:p>
            <a:fld id="{C1FF6DA9-008F-8B48-92A6-B652298478BF}" type="slidenum">
              <a:rPr lang="en-US" smtClean="0"/>
              <a:t>5</a:t>
            </a:fld>
            <a:endParaRPr lang="en-US"/>
          </a:p>
        </p:txBody>
      </p:sp>
      <p:pic>
        <p:nvPicPr>
          <p:cNvPr id="7" name="Picture 6">
            <a:extLst>
              <a:ext uri="{FF2B5EF4-FFF2-40B4-BE49-F238E27FC236}">
                <a16:creationId xmlns:a16="http://schemas.microsoft.com/office/drawing/2014/main" id="{B0B15A95-3895-C760-4D5F-23E7CC2CBD41}"/>
              </a:ext>
            </a:extLst>
          </p:cNvPr>
          <p:cNvPicPr>
            <a:picLocks noChangeAspect="1"/>
          </p:cNvPicPr>
          <p:nvPr/>
        </p:nvPicPr>
        <p:blipFill>
          <a:blip r:embed="rId3"/>
          <a:srcRect r="1483"/>
          <a:stretch>
            <a:fillRect/>
          </a:stretch>
        </p:blipFill>
        <p:spPr>
          <a:xfrm>
            <a:off x="2263730" y="1518707"/>
            <a:ext cx="8404270" cy="3820585"/>
          </a:xfrm>
          <a:prstGeom prst="rect">
            <a:avLst/>
          </a:prstGeom>
        </p:spPr>
      </p:pic>
      <p:sp>
        <p:nvSpPr>
          <p:cNvPr id="13" name="TextBox 12">
            <a:extLst>
              <a:ext uri="{FF2B5EF4-FFF2-40B4-BE49-F238E27FC236}">
                <a16:creationId xmlns:a16="http://schemas.microsoft.com/office/drawing/2014/main" id="{027DC841-23F9-079E-5EB6-3F088CB17051}"/>
              </a:ext>
            </a:extLst>
          </p:cNvPr>
          <p:cNvSpPr txBox="1"/>
          <p:nvPr/>
        </p:nvSpPr>
        <p:spPr>
          <a:xfrm>
            <a:off x="638628" y="1403841"/>
            <a:ext cx="1364343" cy="369332"/>
          </a:xfrm>
          <a:prstGeom prst="rect">
            <a:avLst/>
          </a:prstGeom>
          <a:noFill/>
        </p:spPr>
        <p:txBody>
          <a:bodyPr wrap="square" rtlCol="0">
            <a:spAutoFit/>
          </a:bodyPr>
          <a:lstStyle/>
          <a:p>
            <a:r>
              <a:rPr lang="en-US" dirty="0"/>
              <a:t>Retrieval</a:t>
            </a:r>
          </a:p>
        </p:txBody>
      </p:sp>
      <p:sp>
        <p:nvSpPr>
          <p:cNvPr id="17" name="TextBox 16">
            <a:extLst>
              <a:ext uri="{FF2B5EF4-FFF2-40B4-BE49-F238E27FC236}">
                <a16:creationId xmlns:a16="http://schemas.microsoft.com/office/drawing/2014/main" id="{2D84BA01-0D77-2CBA-8806-D3E854392933}"/>
              </a:ext>
            </a:extLst>
          </p:cNvPr>
          <p:cNvSpPr txBox="1"/>
          <p:nvPr/>
        </p:nvSpPr>
        <p:spPr>
          <a:xfrm>
            <a:off x="3685233" y="5097886"/>
            <a:ext cx="1364343" cy="923330"/>
          </a:xfrm>
          <a:prstGeom prst="rect">
            <a:avLst/>
          </a:prstGeom>
          <a:noFill/>
        </p:spPr>
        <p:txBody>
          <a:bodyPr wrap="square" rtlCol="0">
            <a:spAutoFit/>
          </a:bodyPr>
          <a:lstStyle/>
          <a:p>
            <a:r>
              <a:rPr lang="en-US" dirty="0"/>
              <a:t>Surface desirable candidates</a:t>
            </a:r>
          </a:p>
        </p:txBody>
      </p:sp>
    </p:spTree>
    <p:extLst>
      <p:ext uri="{BB962C8B-B14F-4D97-AF65-F5344CB8AC3E}">
        <p14:creationId xmlns:p14="http://schemas.microsoft.com/office/powerpoint/2010/main" val="33527002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7"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006D8C-B79D-EA4A-5F40-B6E5BA1DA663}"/>
              </a:ext>
            </a:extLst>
          </p:cNvPr>
          <p:cNvSpPr>
            <a:spLocks noGrp="1"/>
          </p:cNvSpPr>
          <p:nvPr>
            <p:ph type="title"/>
          </p:nvPr>
        </p:nvSpPr>
        <p:spPr/>
        <p:txBody>
          <a:bodyPr/>
          <a:lstStyle/>
          <a:p>
            <a:r>
              <a:rPr lang="en-US" dirty="0"/>
              <a:t>Algorithmic curation</a:t>
            </a:r>
          </a:p>
        </p:txBody>
      </p:sp>
      <p:sp>
        <p:nvSpPr>
          <p:cNvPr id="3" name="Text Placeholder 2">
            <a:extLst>
              <a:ext uri="{FF2B5EF4-FFF2-40B4-BE49-F238E27FC236}">
                <a16:creationId xmlns:a16="http://schemas.microsoft.com/office/drawing/2014/main" id="{FE40B52A-5D55-E554-1E32-FC632A6B94B4}"/>
              </a:ext>
            </a:extLst>
          </p:cNvPr>
          <p:cNvSpPr>
            <a:spLocks noGrp="1"/>
          </p:cNvSpPr>
          <p:nvPr>
            <p:ph type="body" sz="quarter" idx="14"/>
          </p:nvPr>
        </p:nvSpPr>
        <p:spPr/>
        <p:txBody>
          <a:bodyPr/>
          <a:lstStyle/>
          <a:p>
            <a:endParaRPr lang="en-US"/>
          </a:p>
        </p:txBody>
      </p:sp>
      <p:sp>
        <p:nvSpPr>
          <p:cNvPr id="4" name="Slide Number Placeholder 3">
            <a:extLst>
              <a:ext uri="{FF2B5EF4-FFF2-40B4-BE49-F238E27FC236}">
                <a16:creationId xmlns:a16="http://schemas.microsoft.com/office/drawing/2014/main" id="{DABBE151-89FA-DC34-D6BF-961A969C0F05}"/>
              </a:ext>
            </a:extLst>
          </p:cNvPr>
          <p:cNvSpPr>
            <a:spLocks noGrp="1"/>
          </p:cNvSpPr>
          <p:nvPr>
            <p:ph type="sldNum" sz="quarter" idx="12"/>
          </p:nvPr>
        </p:nvSpPr>
        <p:spPr/>
        <p:txBody>
          <a:bodyPr/>
          <a:lstStyle/>
          <a:p>
            <a:fld id="{C1FF6DA9-008F-8B48-92A6-B652298478BF}" type="slidenum">
              <a:rPr lang="en-US" smtClean="0"/>
              <a:t>6</a:t>
            </a:fld>
            <a:endParaRPr lang="en-US"/>
          </a:p>
        </p:txBody>
      </p:sp>
      <p:sp>
        <p:nvSpPr>
          <p:cNvPr id="5" name="Content Placeholder 4">
            <a:extLst>
              <a:ext uri="{FF2B5EF4-FFF2-40B4-BE49-F238E27FC236}">
                <a16:creationId xmlns:a16="http://schemas.microsoft.com/office/drawing/2014/main" id="{3D1DD818-61BA-445B-1529-AF32327DB51E}"/>
              </a:ext>
            </a:extLst>
          </p:cNvPr>
          <p:cNvSpPr>
            <a:spLocks noGrp="1"/>
          </p:cNvSpPr>
          <p:nvPr>
            <p:ph idx="1"/>
          </p:nvPr>
        </p:nvSpPr>
        <p:spPr/>
        <p:txBody>
          <a:bodyPr/>
          <a:lstStyle/>
          <a:p>
            <a:pPr>
              <a:lnSpc>
                <a:spcPct val="150000"/>
              </a:lnSpc>
            </a:pPr>
            <a:r>
              <a:rPr lang="en-US" dirty="0"/>
              <a:t>Recommender systems are part of algorithmic curation. However, the goals and means of algorithmic curation are broader. </a:t>
            </a:r>
          </a:p>
          <a:p>
            <a:pPr>
              <a:lnSpc>
                <a:spcPct val="150000"/>
              </a:lnSpc>
            </a:pPr>
            <a:r>
              <a:rPr lang="en-US" dirty="0"/>
              <a:t>It aims to select and organize content for display</a:t>
            </a:r>
          </a:p>
          <a:p>
            <a:pPr>
              <a:lnSpc>
                <a:spcPct val="150000"/>
              </a:lnSpc>
            </a:pPr>
            <a:r>
              <a:rPr lang="en-US" dirty="0"/>
              <a:t>To do this the means are:</a:t>
            </a:r>
          </a:p>
          <a:p>
            <a:pPr marL="285750" indent="-285750">
              <a:lnSpc>
                <a:spcPct val="150000"/>
              </a:lnSpc>
              <a:buFont typeface="Arial" panose="020B0604020202020204" pitchFamily="34" charset="0"/>
              <a:buChar char="•"/>
            </a:pPr>
            <a:r>
              <a:rPr lang="en-US" dirty="0"/>
              <a:t>Filtering</a:t>
            </a:r>
          </a:p>
          <a:p>
            <a:pPr marL="285750" indent="-285750">
              <a:lnSpc>
                <a:spcPct val="150000"/>
              </a:lnSpc>
              <a:buFont typeface="Arial" panose="020B0604020202020204" pitchFamily="34" charset="0"/>
              <a:buChar char="•"/>
            </a:pPr>
            <a:r>
              <a:rPr lang="en-US" dirty="0"/>
              <a:t>Moderation</a:t>
            </a:r>
          </a:p>
          <a:p>
            <a:pPr marL="285750" indent="-285750">
              <a:lnSpc>
                <a:spcPct val="150000"/>
              </a:lnSpc>
              <a:buFont typeface="Arial" panose="020B0604020202020204" pitchFamily="34" charset="0"/>
              <a:buChar char="•"/>
            </a:pPr>
            <a:r>
              <a:rPr lang="en-US" dirty="0"/>
              <a:t>Ranking</a:t>
            </a:r>
          </a:p>
        </p:txBody>
      </p:sp>
    </p:spTree>
    <p:extLst>
      <p:ext uri="{BB962C8B-B14F-4D97-AF65-F5344CB8AC3E}">
        <p14:creationId xmlns:p14="http://schemas.microsoft.com/office/powerpoint/2010/main" val="29162941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1890B0-E85F-D968-BC83-B521C9438CE3}"/>
              </a:ext>
            </a:extLst>
          </p:cNvPr>
          <p:cNvSpPr>
            <a:spLocks noGrp="1"/>
          </p:cNvSpPr>
          <p:nvPr>
            <p:ph type="title"/>
          </p:nvPr>
        </p:nvSpPr>
        <p:spPr/>
        <p:txBody>
          <a:bodyPr/>
          <a:lstStyle/>
          <a:p>
            <a:r>
              <a:rPr lang="en-US" dirty="0">
                <a:hlinkClick r:id="rId2"/>
              </a:rPr>
              <a:t>Explore a ranking example</a:t>
            </a:r>
            <a:endParaRPr lang="en-US" dirty="0"/>
          </a:p>
        </p:txBody>
      </p:sp>
      <p:sp>
        <p:nvSpPr>
          <p:cNvPr id="3" name="Text Placeholder 2">
            <a:extLst>
              <a:ext uri="{FF2B5EF4-FFF2-40B4-BE49-F238E27FC236}">
                <a16:creationId xmlns:a16="http://schemas.microsoft.com/office/drawing/2014/main" id="{EF5A7AA8-0153-F770-E371-8518DE2CFD37}"/>
              </a:ext>
            </a:extLst>
          </p:cNvPr>
          <p:cNvSpPr>
            <a:spLocks noGrp="1"/>
          </p:cNvSpPr>
          <p:nvPr>
            <p:ph type="body" sz="quarter" idx="14"/>
          </p:nvPr>
        </p:nvSpPr>
        <p:spPr/>
        <p:txBody>
          <a:bodyPr/>
          <a:lstStyle/>
          <a:p>
            <a:r>
              <a:rPr lang="en-US" dirty="0"/>
              <a:t>Click on the link to explore interactively</a:t>
            </a:r>
          </a:p>
        </p:txBody>
      </p:sp>
      <p:sp>
        <p:nvSpPr>
          <p:cNvPr id="4" name="Slide Number Placeholder 3">
            <a:extLst>
              <a:ext uri="{FF2B5EF4-FFF2-40B4-BE49-F238E27FC236}">
                <a16:creationId xmlns:a16="http://schemas.microsoft.com/office/drawing/2014/main" id="{BC038444-AEDB-F3F8-FE2A-DF8DBCE5E88A}"/>
              </a:ext>
            </a:extLst>
          </p:cNvPr>
          <p:cNvSpPr>
            <a:spLocks noGrp="1"/>
          </p:cNvSpPr>
          <p:nvPr>
            <p:ph type="sldNum" sz="quarter" idx="12"/>
          </p:nvPr>
        </p:nvSpPr>
        <p:spPr/>
        <p:txBody>
          <a:bodyPr/>
          <a:lstStyle/>
          <a:p>
            <a:fld id="{C1FF6DA9-008F-8B48-92A6-B652298478BF}" type="slidenum">
              <a:rPr lang="en-US" smtClean="0"/>
              <a:t>7</a:t>
            </a:fld>
            <a:endParaRPr lang="en-US"/>
          </a:p>
        </p:txBody>
      </p:sp>
      <p:sp>
        <p:nvSpPr>
          <p:cNvPr id="5" name="Content Placeholder 4">
            <a:extLst>
              <a:ext uri="{FF2B5EF4-FFF2-40B4-BE49-F238E27FC236}">
                <a16:creationId xmlns:a16="http://schemas.microsoft.com/office/drawing/2014/main" id="{D32EB3DE-B417-169E-653B-35918EA872B0}"/>
              </a:ext>
            </a:extLst>
          </p:cNvPr>
          <p:cNvSpPr>
            <a:spLocks noGrp="1"/>
          </p:cNvSpPr>
          <p:nvPr>
            <p:ph idx="1"/>
          </p:nvPr>
        </p:nvSpPr>
        <p:spPr>
          <a:xfrm>
            <a:off x="6487886" y="1503235"/>
            <a:ext cx="8737600" cy="640080"/>
          </a:xfrm>
        </p:spPr>
        <p:txBody>
          <a:bodyPr/>
          <a:lstStyle/>
          <a:p>
            <a:r>
              <a:rPr lang="en-US" dirty="0"/>
              <a:t>Explore a ranking example</a:t>
            </a:r>
          </a:p>
        </p:txBody>
      </p:sp>
      <p:pic>
        <p:nvPicPr>
          <p:cNvPr id="7" name="Picture 6">
            <a:extLst>
              <a:ext uri="{FF2B5EF4-FFF2-40B4-BE49-F238E27FC236}">
                <a16:creationId xmlns:a16="http://schemas.microsoft.com/office/drawing/2014/main" id="{27E280E7-D148-286B-C5F4-2D29DF83E1F7}"/>
              </a:ext>
            </a:extLst>
          </p:cNvPr>
          <p:cNvPicPr>
            <a:picLocks noChangeAspect="1"/>
          </p:cNvPicPr>
          <p:nvPr/>
        </p:nvPicPr>
        <p:blipFill>
          <a:blip r:embed="rId3"/>
          <a:srcRect t="19400" b="-1"/>
          <a:stretch>
            <a:fillRect/>
          </a:stretch>
        </p:blipFill>
        <p:spPr>
          <a:xfrm>
            <a:off x="2209800" y="1298448"/>
            <a:ext cx="7772400" cy="4416552"/>
          </a:xfrm>
          <a:prstGeom prst="rect">
            <a:avLst/>
          </a:prstGeom>
        </p:spPr>
      </p:pic>
    </p:spTree>
    <p:extLst>
      <p:ext uri="{BB962C8B-B14F-4D97-AF65-F5344CB8AC3E}">
        <p14:creationId xmlns:p14="http://schemas.microsoft.com/office/powerpoint/2010/main" val="116612090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592326-F694-877B-CD04-1DCAD0C74319}"/>
              </a:ext>
            </a:extLst>
          </p:cNvPr>
          <p:cNvSpPr>
            <a:spLocks noGrp="1"/>
          </p:cNvSpPr>
          <p:nvPr>
            <p:ph type="title"/>
          </p:nvPr>
        </p:nvSpPr>
        <p:spPr/>
        <p:txBody>
          <a:bodyPr/>
          <a:lstStyle/>
          <a:p>
            <a:r>
              <a:rPr lang="en-US" dirty="0">
                <a:hlinkClick r:id="rId2"/>
              </a:rPr>
              <a:t>Explore a customized feed </a:t>
            </a:r>
            <a:endParaRPr lang="en-US" dirty="0"/>
          </a:p>
        </p:txBody>
      </p:sp>
      <p:sp>
        <p:nvSpPr>
          <p:cNvPr id="3" name="Text Placeholder 2">
            <a:extLst>
              <a:ext uri="{FF2B5EF4-FFF2-40B4-BE49-F238E27FC236}">
                <a16:creationId xmlns:a16="http://schemas.microsoft.com/office/drawing/2014/main" id="{F60884E0-19CA-F537-FD61-6DFB6DF1DD8D}"/>
              </a:ext>
            </a:extLst>
          </p:cNvPr>
          <p:cNvSpPr>
            <a:spLocks noGrp="1"/>
          </p:cNvSpPr>
          <p:nvPr>
            <p:ph type="body" sz="quarter" idx="14"/>
          </p:nvPr>
        </p:nvSpPr>
        <p:spPr/>
        <p:txBody>
          <a:bodyPr/>
          <a:lstStyle/>
          <a:p>
            <a:r>
              <a:rPr lang="en-US" dirty="0"/>
              <a:t>Click on the link to explore interactively</a:t>
            </a:r>
          </a:p>
          <a:p>
            <a:endParaRPr lang="en-US" dirty="0"/>
          </a:p>
        </p:txBody>
      </p:sp>
      <p:sp>
        <p:nvSpPr>
          <p:cNvPr id="4" name="Slide Number Placeholder 3">
            <a:extLst>
              <a:ext uri="{FF2B5EF4-FFF2-40B4-BE49-F238E27FC236}">
                <a16:creationId xmlns:a16="http://schemas.microsoft.com/office/drawing/2014/main" id="{F3301257-9E46-4629-C4B7-4CA95465A18D}"/>
              </a:ext>
            </a:extLst>
          </p:cNvPr>
          <p:cNvSpPr>
            <a:spLocks noGrp="1"/>
          </p:cNvSpPr>
          <p:nvPr>
            <p:ph type="sldNum" sz="quarter" idx="12"/>
          </p:nvPr>
        </p:nvSpPr>
        <p:spPr/>
        <p:txBody>
          <a:bodyPr/>
          <a:lstStyle/>
          <a:p>
            <a:fld id="{C1FF6DA9-008F-8B48-92A6-B652298478BF}" type="slidenum">
              <a:rPr lang="en-US" smtClean="0"/>
              <a:t>8</a:t>
            </a:fld>
            <a:endParaRPr lang="en-US"/>
          </a:p>
        </p:txBody>
      </p:sp>
      <p:sp>
        <p:nvSpPr>
          <p:cNvPr id="5" name="Content Placeholder 4">
            <a:extLst>
              <a:ext uri="{FF2B5EF4-FFF2-40B4-BE49-F238E27FC236}">
                <a16:creationId xmlns:a16="http://schemas.microsoft.com/office/drawing/2014/main" id="{3E97AA12-55CD-5F7B-49C6-43CEF9F8F93E}"/>
              </a:ext>
            </a:extLst>
          </p:cNvPr>
          <p:cNvSpPr>
            <a:spLocks noGrp="1"/>
          </p:cNvSpPr>
          <p:nvPr>
            <p:ph idx="1"/>
          </p:nvPr>
        </p:nvSpPr>
        <p:spPr/>
        <p:txBody>
          <a:bodyPr/>
          <a:lstStyle/>
          <a:p>
            <a:endParaRPr lang="en-US"/>
          </a:p>
        </p:txBody>
      </p:sp>
      <p:pic>
        <p:nvPicPr>
          <p:cNvPr id="7" name="Picture 6">
            <a:extLst>
              <a:ext uri="{FF2B5EF4-FFF2-40B4-BE49-F238E27FC236}">
                <a16:creationId xmlns:a16="http://schemas.microsoft.com/office/drawing/2014/main" id="{F866FB8E-4A2D-E7A7-3831-4F87C61721A5}"/>
              </a:ext>
            </a:extLst>
          </p:cNvPr>
          <p:cNvPicPr>
            <a:picLocks noChangeAspect="1"/>
          </p:cNvPicPr>
          <p:nvPr/>
        </p:nvPicPr>
        <p:blipFill>
          <a:blip r:embed="rId3"/>
          <a:stretch>
            <a:fillRect/>
          </a:stretch>
        </p:blipFill>
        <p:spPr>
          <a:xfrm>
            <a:off x="2452908" y="1261132"/>
            <a:ext cx="7286184" cy="4658656"/>
          </a:xfrm>
          <a:prstGeom prst="rect">
            <a:avLst/>
          </a:prstGeom>
        </p:spPr>
      </p:pic>
    </p:spTree>
    <p:extLst>
      <p:ext uri="{BB962C8B-B14F-4D97-AF65-F5344CB8AC3E}">
        <p14:creationId xmlns:p14="http://schemas.microsoft.com/office/powerpoint/2010/main" val="125384948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69D501-7EDB-0BAB-5722-55F28F618B28}"/>
              </a:ext>
            </a:extLst>
          </p:cNvPr>
          <p:cNvSpPr>
            <a:spLocks noGrp="1"/>
          </p:cNvSpPr>
          <p:nvPr>
            <p:ph type="title"/>
          </p:nvPr>
        </p:nvSpPr>
        <p:spPr/>
        <p:txBody>
          <a:bodyPr/>
          <a:lstStyle/>
          <a:p>
            <a:r>
              <a:rPr lang="en-US" dirty="0"/>
              <a:t>Homework : Redesign a Social Media Feed</a:t>
            </a:r>
          </a:p>
        </p:txBody>
      </p:sp>
      <p:sp>
        <p:nvSpPr>
          <p:cNvPr id="3" name="Text Placeholder 2">
            <a:extLst>
              <a:ext uri="{FF2B5EF4-FFF2-40B4-BE49-F238E27FC236}">
                <a16:creationId xmlns:a16="http://schemas.microsoft.com/office/drawing/2014/main" id="{442F25C8-BD8A-3BF0-CE16-54610D9203F9}"/>
              </a:ext>
            </a:extLst>
          </p:cNvPr>
          <p:cNvSpPr>
            <a:spLocks noGrp="1"/>
          </p:cNvSpPr>
          <p:nvPr>
            <p:ph type="body" sz="quarter" idx="14"/>
          </p:nvPr>
        </p:nvSpPr>
        <p:spPr/>
        <p:txBody>
          <a:bodyPr/>
          <a:lstStyle/>
          <a:p>
            <a:endParaRPr lang="en-US"/>
          </a:p>
        </p:txBody>
      </p:sp>
      <p:sp>
        <p:nvSpPr>
          <p:cNvPr id="4" name="Slide Number Placeholder 3">
            <a:extLst>
              <a:ext uri="{FF2B5EF4-FFF2-40B4-BE49-F238E27FC236}">
                <a16:creationId xmlns:a16="http://schemas.microsoft.com/office/drawing/2014/main" id="{10CA9454-64DE-2431-803D-802890EEC32C}"/>
              </a:ext>
            </a:extLst>
          </p:cNvPr>
          <p:cNvSpPr>
            <a:spLocks noGrp="1"/>
          </p:cNvSpPr>
          <p:nvPr>
            <p:ph type="sldNum" sz="quarter" idx="12"/>
          </p:nvPr>
        </p:nvSpPr>
        <p:spPr/>
        <p:txBody>
          <a:bodyPr/>
          <a:lstStyle/>
          <a:p>
            <a:fld id="{C1FF6DA9-008F-8B48-92A6-B652298478BF}" type="slidenum">
              <a:rPr lang="en-US" smtClean="0"/>
              <a:t>9</a:t>
            </a:fld>
            <a:endParaRPr lang="en-US"/>
          </a:p>
        </p:txBody>
      </p:sp>
      <p:sp>
        <p:nvSpPr>
          <p:cNvPr id="5" name="Content Placeholder 4">
            <a:extLst>
              <a:ext uri="{FF2B5EF4-FFF2-40B4-BE49-F238E27FC236}">
                <a16:creationId xmlns:a16="http://schemas.microsoft.com/office/drawing/2014/main" id="{76C3C7A9-469A-87BA-E6E6-566801041950}"/>
              </a:ext>
            </a:extLst>
          </p:cNvPr>
          <p:cNvSpPr>
            <a:spLocks noGrp="1"/>
          </p:cNvSpPr>
          <p:nvPr>
            <p:ph idx="1"/>
          </p:nvPr>
        </p:nvSpPr>
        <p:spPr/>
        <p:txBody>
          <a:bodyPr>
            <a:normAutofit fontScale="70000" lnSpcReduction="20000"/>
          </a:bodyPr>
          <a:lstStyle/>
          <a:p>
            <a:pPr marL="285750" indent="-285750">
              <a:lnSpc>
                <a:spcPct val="150000"/>
              </a:lnSpc>
              <a:buFont typeface="Arial" panose="020B0604020202020204" pitchFamily="34" charset="0"/>
              <a:buChar char="•"/>
            </a:pPr>
            <a:r>
              <a:rPr lang="en-US" b="1" dirty="0"/>
              <a:t>Objective:</a:t>
            </a:r>
            <a:r>
              <a:rPr lang="en-US" dirty="0"/>
              <a:t> Explore how algorithmic design choices can shape users' experiences on social media. This exercise is meant to get you started on brainstorming ideas for an experiment. Focus on making your proposed modification concrete and explaining its potential consequences.</a:t>
            </a:r>
          </a:p>
          <a:p>
            <a:pPr>
              <a:lnSpc>
                <a:spcPct val="150000"/>
              </a:lnSpc>
            </a:pPr>
            <a:r>
              <a:rPr lang="en-US" dirty="0"/>
              <a:t>Visit </a:t>
            </a:r>
            <a:r>
              <a:rPr lang="en-US" dirty="0">
                <a:hlinkClick r:id="rId2"/>
              </a:rPr>
              <a:t>Prosocial Design</a:t>
            </a:r>
            <a:r>
              <a:rPr lang="en-US" dirty="0"/>
              <a:t> and explore its proposed interventions. Choose one intervention that interests you, then complete the following tasks:</a:t>
            </a:r>
          </a:p>
          <a:p>
            <a:pPr marL="285750" lvl="0" indent="-285750">
              <a:lnSpc>
                <a:spcPct val="150000"/>
              </a:lnSpc>
              <a:buFont typeface="Arial" panose="020B0604020202020204" pitchFamily="34" charset="0"/>
              <a:buChar char="•"/>
            </a:pPr>
            <a:r>
              <a:rPr lang="en-US" dirty="0"/>
              <a:t>Briefly describe the intervention, the problem it addresses, and its proposed solution.</a:t>
            </a:r>
          </a:p>
          <a:p>
            <a:pPr marL="285750" lvl="0" indent="-285750">
              <a:lnSpc>
                <a:spcPct val="150000"/>
              </a:lnSpc>
              <a:buFont typeface="Arial" panose="020B0604020202020204" pitchFamily="34" charset="0"/>
              <a:buChar char="•"/>
            </a:pPr>
            <a:r>
              <a:rPr lang="en-US" dirty="0"/>
              <a:t>Propose your own modification to a social media feed, inspired by the intervention or your own ideas. Identify which stage of the curation pipeline you would modify (retrieval, scoring, ranking, or presentation) and explain how.</a:t>
            </a:r>
          </a:p>
          <a:p>
            <a:pPr marL="285750" lvl="0" indent="-285750">
              <a:lnSpc>
                <a:spcPct val="150000"/>
              </a:lnSpc>
              <a:buFont typeface="Arial" panose="020B0604020202020204" pitchFamily="34" charset="0"/>
              <a:buChar char="•"/>
            </a:pPr>
            <a:r>
              <a:rPr lang="en-US" dirty="0"/>
              <a:t>Reflect. Discuss one potential benefit and one possible drawback of your modification. Propose one research question that could be investigated experimentally.</a:t>
            </a:r>
          </a:p>
          <a:p>
            <a:pPr marL="285750" indent="-285750">
              <a:lnSpc>
                <a:spcPct val="150000"/>
              </a:lnSpc>
              <a:buFont typeface="Arial" panose="020B0604020202020204" pitchFamily="34" charset="0"/>
              <a:buChar char="•"/>
            </a:pPr>
            <a:r>
              <a:rPr lang="en-US" b="1" dirty="0"/>
              <a:t>Submission:</a:t>
            </a:r>
            <a:r>
              <a:rPr lang="en-US" dirty="0"/>
              <a:t> A short written response (300–400 words) as prompt to discuss in class. </a:t>
            </a:r>
          </a:p>
          <a:p>
            <a:endParaRPr lang="en-US" dirty="0"/>
          </a:p>
        </p:txBody>
      </p:sp>
    </p:spTree>
    <p:extLst>
      <p:ext uri="{BB962C8B-B14F-4D97-AF65-F5344CB8AC3E}">
        <p14:creationId xmlns:p14="http://schemas.microsoft.com/office/powerpoint/2010/main" val="345147684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D25671-B2F8-20A0-D8CF-F353E738E84B}"/>
              </a:ext>
            </a:extLst>
          </p:cNvPr>
          <p:cNvSpPr>
            <a:spLocks noGrp="1"/>
          </p:cNvSpPr>
          <p:nvPr>
            <p:ph type="title"/>
          </p:nvPr>
        </p:nvSpPr>
        <p:spPr/>
        <p:txBody>
          <a:bodyPr/>
          <a:lstStyle/>
          <a:p>
            <a:r>
              <a:rPr lang="en-US" dirty="0"/>
              <a:t>Homework, optional </a:t>
            </a:r>
          </a:p>
        </p:txBody>
      </p:sp>
      <p:sp>
        <p:nvSpPr>
          <p:cNvPr id="3" name="Text Placeholder 2">
            <a:extLst>
              <a:ext uri="{FF2B5EF4-FFF2-40B4-BE49-F238E27FC236}">
                <a16:creationId xmlns:a16="http://schemas.microsoft.com/office/drawing/2014/main" id="{EA114F13-E7CE-444A-994F-9A4A489FD2C9}"/>
              </a:ext>
            </a:extLst>
          </p:cNvPr>
          <p:cNvSpPr>
            <a:spLocks noGrp="1"/>
          </p:cNvSpPr>
          <p:nvPr>
            <p:ph type="body" sz="quarter" idx="14"/>
          </p:nvPr>
        </p:nvSpPr>
        <p:spPr/>
        <p:txBody>
          <a:bodyPr/>
          <a:lstStyle/>
          <a:p>
            <a:endParaRPr lang="en-US"/>
          </a:p>
        </p:txBody>
      </p:sp>
      <p:sp>
        <p:nvSpPr>
          <p:cNvPr id="4" name="Slide Number Placeholder 3">
            <a:extLst>
              <a:ext uri="{FF2B5EF4-FFF2-40B4-BE49-F238E27FC236}">
                <a16:creationId xmlns:a16="http://schemas.microsoft.com/office/drawing/2014/main" id="{E4B8E883-B5D1-13C8-F8FA-6368861206B5}"/>
              </a:ext>
            </a:extLst>
          </p:cNvPr>
          <p:cNvSpPr>
            <a:spLocks noGrp="1"/>
          </p:cNvSpPr>
          <p:nvPr>
            <p:ph type="sldNum" sz="quarter" idx="12"/>
          </p:nvPr>
        </p:nvSpPr>
        <p:spPr/>
        <p:txBody>
          <a:bodyPr/>
          <a:lstStyle/>
          <a:p>
            <a:fld id="{C1FF6DA9-008F-8B48-92A6-B652298478BF}" type="slidenum">
              <a:rPr lang="en-US" smtClean="0"/>
              <a:t>10</a:t>
            </a:fld>
            <a:endParaRPr lang="en-US"/>
          </a:p>
        </p:txBody>
      </p:sp>
      <p:sp>
        <p:nvSpPr>
          <p:cNvPr id="5" name="Content Placeholder 4">
            <a:extLst>
              <a:ext uri="{FF2B5EF4-FFF2-40B4-BE49-F238E27FC236}">
                <a16:creationId xmlns:a16="http://schemas.microsoft.com/office/drawing/2014/main" id="{52274F21-E1E4-9525-50FE-571E7A75E1AD}"/>
              </a:ext>
            </a:extLst>
          </p:cNvPr>
          <p:cNvSpPr>
            <a:spLocks noGrp="1"/>
          </p:cNvSpPr>
          <p:nvPr>
            <p:ph idx="1"/>
          </p:nvPr>
        </p:nvSpPr>
        <p:spPr/>
        <p:txBody>
          <a:bodyPr/>
          <a:lstStyle/>
          <a:p>
            <a:pPr marL="285750" indent="-285750">
              <a:buFontTx/>
              <a:buChar char="-"/>
            </a:pPr>
            <a:r>
              <a:rPr lang="en-US" dirty="0"/>
              <a:t>Read the primers from </a:t>
            </a:r>
            <a:r>
              <a:rPr lang="en-US" dirty="0">
                <a:hlinkClick r:id="rId2"/>
              </a:rPr>
              <a:t>Prosocial Design</a:t>
            </a:r>
            <a:r>
              <a:rPr lang="en-US" dirty="0"/>
              <a:t> </a:t>
            </a:r>
          </a:p>
          <a:p>
            <a:pPr marL="285750" indent="-285750">
              <a:buFontTx/>
              <a:buChar char="-"/>
            </a:pPr>
            <a:r>
              <a:rPr lang="en-US" dirty="0"/>
              <a:t>Read </a:t>
            </a:r>
            <a:r>
              <a:rPr lang="en-US" u="sng" dirty="0">
                <a:hlinkClick r:id="rId3"/>
              </a:rPr>
              <a:t>Understanding Social Media Recommendation Algorithms (Narayanan, 2023) </a:t>
            </a:r>
          </a:p>
          <a:p>
            <a:endParaRPr lang="en-US" dirty="0"/>
          </a:p>
        </p:txBody>
      </p:sp>
    </p:spTree>
    <p:extLst>
      <p:ext uri="{BB962C8B-B14F-4D97-AF65-F5344CB8AC3E}">
        <p14:creationId xmlns:p14="http://schemas.microsoft.com/office/powerpoint/2010/main" val="3261335301"/>
      </p:ext>
    </p:extLst>
  </p:cSld>
  <p:clrMapOvr>
    <a:masterClrMapping/>
  </p:clrMapOvr>
</p:sld>
</file>

<file path=ppt/theme/theme1.xml><?xml version="1.0" encoding="utf-8"?>
<a:theme xmlns:a="http://schemas.openxmlformats.org/drawingml/2006/main" name="Office Theme [1792666898482]">
  <a:themeElements>
    <a:clrScheme name="Office">
      <a:dk1>
        <a:srgbClr val="171717"/>
      </a:dk1>
      <a:lt1>
        <a:srgbClr val="FFFFFF"/>
      </a:lt1>
      <a:dk2>
        <a:srgbClr val="00008C"/>
      </a:dk2>
      <a:lt2>
        <a:srgbClr val="F2F2F8"/>
      </a:lt2>
      <a:accent1>
        <a:srgbClr val="00008C"/>
      </a:accent1>
      <a:accent2>
        <a:srgbClr val="FFBE78"/>
      </a:accent2>
      <a:accent3>
        <a:srgbClr val="66668F"/>
      </a:accent3>
      <a:accent4>
        <a:srgbClr val="9A9AC8"/>
      </a:accent4>
      <a:accent5>
        <a:srgbClr val="6B6B72"/>
      </a:accent5>
      <a:accent6>
        <a:srgbClr val="CCCCDD"/>
      </a:accent6>
      <a:hlink>
        <a:srgbClr val="0000FF"/>
      </a:hlink>
      <a:folHlink>
        <a:srgbClr val="800080"/>
      </a:folHlink>
    </a:clrScheme>
    <a:fontScheme name="Office">
      <a:majorFont>
        <a:latin typeface="Rubik"/>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Rubik"/>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Presentation1" id="{4FBFD464-8482-5F45-9EF7-7C571C7F2B0B}" vid="{9944930E-3D99-6142-BBDA-3AB47E11E71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2" Type="http://schemas.microsoft.com/office/2011/relationships/webextension" Target="webextension2.xml"/><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 dockstate="right" visibility="0" width="350" row="0">
    <wetp:webextensionref xmlns:r="http://schemas.openxmlformats.org/officeDocument/2006/relationships" r:id="rId2"/>
  </wetp:taskpane>
</wetp:taskpanes>
</file>

<file path=ppt/webextensions/webextension1.xml><?xml version="1.0" encoding="utf-8"?>
<we:webextension xmlns:we="http://schemas.microsoft.com/office/webextensions/webextension/2010/11" id="{12CE7D72-A7B4-AC4E-8F35-24A52A1830D3}">
  <we:reference id="WA200010725" version="1.0.0.1" store="Omex" storeType="OMEX"/>
  <we:alternateReferences>
    <we:reference id="WA200010725" version="1.0.0.1" store="WA200010725" storeType="OMEX"/>
  </we:alternateReferences>
  <we:properties>
    <we:property name="claude.fileId" value="&quot;2ee24a78-c0d2-4be5-b95f-6fceb25ecf7a&quot;"/>
  </we:properties>
  <we:bindings/>
  <we:snapshot xmlns:r="http://schemas.openxmlformats.org/officeDocument/2006/relationships"/>
</we:webextension>
</file>

<file path=ppt/webextensions/webextension2.xml><?xml version="1.0" encoding="utf-8"?>
<we:webextension xmlns:we="http://schemas.microsoft.com/office/webextensions/webextension/2010/11" id="{B8A8CABE-EE36-E94E-BEFC-8C76583DB1FB}">
  <we:reference id="WA200010725" version="1.0.0.1" store="Omex" storeType="OMEX"/>
  <we:alternateReferences>
    <we:reference id="WA200010725" version="1.0.0.1" store="WA200010725" storeType="OMEX"/>
  </we:alternateReferences>
  <we:properties>
    <we:property name="claude.fileId" value="&quot;080a0665-3919-439d-9dbd-f985a35c20c1&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emplate>Office Theme [1792666898482]</Template>
  <TotalTime>5716</TotalTime>
  <Words>460</Words>
  <Application>Microsoft Macintosh PowerPoint</Application>
  <PresentationFormat>Widescreen</PresentationFormat>
  <Paragraphs>57</Paragraphs>
  <Slides>11</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Aptos</vt:lpstr>
      <vt:lpstr>Arial</vt:lpstr>
      <vt:lpstr>Rubik</vt:lpstr>
      <vt:lpstr>Office Theme [1792666898482]</vt:lpstr>
      <vt:lpstr>Intro to Algorithmically Curated Feeds</vt:lpstr>
      <vt:lpstr>Curation is how sites decide which posts goes in the feed and in what order they’re displayed</vt:lpstr>
      <vt:lpstr>Objectives</vt:lpstr>
      <vt:lpstr>Why do we need curation?</vt:lpstr>
      <vt:lpstr>Curation is built on recommender systems  </vt:lpstr>
      <vt:lpstr>A typical algorithmic curation pipeline includes Retrieval + Ranking </vt:lpstr>
      <vt:lpstr>Algorithmic curation</vt:lpstr>
      <vt:lpstr>Explore a ranking example</vt:lpstr>
      <vt:lpstr>Explore a customized feed </vt:lpstr>
      <vt:lpstr>Homework : Redesign a Social Media Feed</vt:lpstr>
      <vt:lpstr>Homework, optional </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Truong, Bao Tran</dc:creator>
  <cp:keywords/>
  <dc:description>generated using python-pptx</dc:description>
  <cp:lastModifiedBy>Truong, Bao Tran</cp:lastModifiedBy>
  <cp:revision>2</cp:revision>
  <dcterms:created xsi:type="dcterms:W3CDTF">2026-10-22T10:49:45Z</dcterms:created>
  <dcterms:modified xsi:type="dcterms:W3CDTF">2026-10-26T13:09:53Z</dcterms:modified>
  <cp:category/>
</cp:coreProperties>
</file>